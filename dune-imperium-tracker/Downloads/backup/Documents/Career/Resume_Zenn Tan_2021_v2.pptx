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64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E7225-9B7D-4482-85BD-F5DA87BD4C63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62E70-2CD4-4FA1-87BB-CFF082CD69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907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459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0228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814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312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998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623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9D23C-0D58-455A-B1E0-01C72700D317}"/>
              </a:ext>
            </a:extLst>
          </p:cNvPr>
          <p:cNvSpPr/>
          <p:nvPr userDrawn="1"/>
        </p:nvSpPr>
        <p:spPr>
          <a:xfrm>
            <a:off x="0" y="1308105"/>
            <a:ext cx="2582636" cy="8597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SG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20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985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053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851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0460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30F9-1C17-4E3A-8484-1B233E775657}" type="datetimeFigureOut">
              <a:rPr lang="en-SG" smtClean="0"/>
              <a:t>30/7/2021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376FA-8ACB-4238-9B04-E65A3B32047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831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an.youngkiat.zenn@gmail.com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D8BB1E-89CD-40E4-9E2C-E46DE56D6E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7" t="6056" r="15667" b="9844"/>
          <a:stretch/>
        </p:blipFill>
        <p:spPr bwMode="auto">
          <a:xfrm>
            <a:off x="228112" y="291477"/>
            <a:ext cx="2130380" cy="2113870"/>
          </a:xfrm>
          <a:prstGeom prst="ellipse">
            <a:avLst/>
          </a:prstGeom>
          <a:noFill/>
          <a:ln w="3492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672752F-AE8C-4A39-B459-BCD9A7CF82E4}"/>
              </a:ext>
            </a:extLst>
          </p:cNvPr>
          <p:cNvGrpSpPr/>
          <p:nvPr/>
        </p:nvGrpSpPr>
        <p:grpSpPr>
          <a:xfrm>
            <a:off x="0" y="2470559"/>
            <a:ext cx="2559640" cy="1110244"/>
            <a:chOff x="0" y="-219075"/>
            <a:chExt cx="2756535" cy="1195647"/>
          </a:xfrm>
        </p:grpSpPr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D3C97CB1-7AA7-4A0D-BAE8-6DFCD6DCF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33" y="-219075"/>
              <a:ext cx="1965325" cy="503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SG" sz="2400" b="1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Zenn Tan</a:t>
              </a:r>
              <a:endParaRPr lang="en-SG" sz="105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47747407-9A92-4D1B-A436-CCE491BB6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70279"/>
              <a:ext cx="2756535" cy="506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Business &amp; Technology Consultant</a:t>
              </a:r>
              <a:endParaRPr lang="en-SG" sz="9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E290DE8-370D-4AC4-A661-2033C15922E4}"/>
                </a:ext>
              </a:extLst>
            </p:cNvPr>
            <p:cNvCxnSpPr/>
            <p:nvPr/>
          </p:nvCxnSpPr>
          <p:spPr>
            <a:xfrm>
              <a:off x="354842" y="367778"/>
              <a:ext cx="2060575" cy="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1A5DCF-6103-49BF-8882-1C03382F1A11}"/>
              </a:ext>
            </a:extLst>
          </p:cNvPr>
          <p:cNvCxnSpPr>
            <a:cxnSpLocks/>
          </p:cNvCxnSpPr>
          <p:nvPr/>
        </p:nvCxnSpPr>
        <p:spPr>
          <a:xfrm>
            <a:off x="3207657" y="6781800"/>
            <a:ext cx="29318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9AAE3B-500A-47C5-ABED-01DDFCC03F07}"/>
              </a:ext>
            </a:extLst>
          </p:cNvPr>
          <p:cNvGrpSpPr/>
          <p:nvPr/>
        </p:nvGrpSpPr>
        <p:grpSpPr>
          <a:xfrm>
            <a:off x="228112" y="9100832"/>
            <a:ext cx="2296160" cy="552450"/>
            <a:chOff x="4896485" y="4538822"/>
            <a:chExt cx="2296160" cy="552450"/>
          </a:xfrm>
        </p:grpSpPr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289B6CEC-B17B-44B4-B2BA-0A3A59381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3180" y="4538822"/>
              <a:ext cx="2069465" cy="552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900" u="sng" dirty="0">
                  <a:solidFill>
                    <a:srgbClr val="0563C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hlinkClick r:id="rId3"/>
                </a:rPr>
                <a:t>tan.youngkiat.zenn@gmail.com</a:t>
              </a:r>
              <a:endParaRPr lang="en-SG" sz="105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900" dirty="0"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+65 9338 0679</a:t>
              </a:r>
              <a:endParaRPr lang="en-SG" sz="105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Graphic 9" descr="Envelope with solid fill">
              <a:extLst>
                <a:ext uri="{FF2B5EF4-FFF2-40B4-BE49-F238E27FC236}">
                  <a16:creationId xmlns:a16="http://schemas.microsoft.com/office/drawing/2014/main" id="{C2CF9EB1-2CAA-464F-AB66-76B30B2C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96485" y="4562635"/>
              <a:ext cx="228600" cy="228600"/>
            </a:xfrm>
            <a:prstGeom prst="rect">
              <a:avLst/>
            </a:prstGeom>
          </p:spPr>
        </p:pic>
        <p:pic>
          <p:nvPicPr>
            <p:cNvPr id="17" name="Graphic 10" descr="Smart Phone with solid fill">
              <a:extLst>
                <a:ext uri="{FF2B5EF4-FFF2-40B4-BE49-F238E27FC236}">
                  <a16:creationId xmlns:a16="http://schemas.microsoft.com/office/drawing/2014/main" id="{EFE18CEA-0742-4EE4-8200-4BB0D7B7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96485" y="4815047"/>
              <a:ext cx="228600" cy="2286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3A110C5-91E7-439F-9085-AA9B527B3909}"/>
              </a:ext>
            </a:extLst>
          </p:cNvPr>
          <p:cNvSpPr txBox="1"/>
          <p:nvPr/>
        </p:nvSpPr>
        <p:spPr>
          <a:xfrm>
            <a:off x="199084" y="3826214"/>
            <a:ext cx="22961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Education</a:t>
            </a:r>
          </a:p>
          <a:p>
            <a:pPr>
              <a:spcAft>
                <a:spcPts val="800"/>
              </a:spcAft>
            </a:pPr>
            <a:r>
              <a:rPr lang="en-SG" sz="1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Nanyang Technological University (2013 – 2017)</a:t>
            </a:r>
          </a:p>
          <a:p>
            <a:pPr lvl="0">
              <a:spcAft>
                <a:spcPts val="800"/>
              </a:spcAft>
            </a:pPr>
            <a:r>
              <a:rPr lang="en-SG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BEng 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Mechanical Engineering</a:t>
            </a:r>
            <a:b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</a:b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1</a:t>
            </a:r>
            <a:r>
              <a:rPr lang="en-SG" sz="1000" baseline="30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st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 Class Honours</a:t>
            </a:r>
            <a:endParaRPr lang="en-SG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Noto Sans Symbols"/>
            </a:endParaRPr>
          </a:p>
          <a:p>
            <a:pPr lvl="0">
              <a:spcAft>
                <a:spcPts val="800"/>
              </a:spcAft>
            </a:pPr>
            <a:r>
              <a:rPr lang="en-SG" sz="10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Nanyang Scholarship</a:t>
            </a:r>
            <a:br>
              <a:rPr lang="en-SG" sz="10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</a:br>
            <a:r>
              <a:rPr lang="en-SG" sz="10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CN Yang Scholars’ Programme</a:t>
            </a:r>
            <a:endParaRPr lang="en-SG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Noto Sans Symbol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AF8447-075E-4915-950C-05920051D7B7}"/>
              </a:ext>
            </a:extLst>
          </p:cNvPr>
          <p:cNvSpPr txBox="1"/>
          <p:nvPr/>
        </p:nvSpPr>
        <p:spPr>
          <a:xfrm>
            <a:off x="199084" y="5523694"/>
            <a:ext cx="2159408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Qualifications</a:t>
            </a:r>
            <a:endParaRPr lang="en-SG" sz="1100" b="1" u="sng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Scrum.org Professional Scrum Developer (2019)</a:t>
            </a:r>
          </a:p>
          <a:p>
            <a:pPr lvl="0">
              <a:spcAft>
                <a:spcPts val="800"/>
              </a:spcAft>
            </a:pPr>
            <a:r>
              <a:rPr lang="en-SG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AWS Certified Solutions Architect Associate (on track)</a:t>
            </a:r>
            <a:endParaRPr lang="en-SG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Noto Sans Symbol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A33289-0140-4BE7-B536-D3D555CAB54C}"/>
              </a:ext>
            </a:extLst>
          </p:cNvPr>
          <p:cNvSpPr txBox="1"/>
          <p:nvPr/>
        </p:nvSpPr>
        <p:spPr>
          <a:xfrm>
            <a:off x="2844800" y="480922"/>
            <a:ext cx="3683704" cy="505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Career</a:t>
            </a:r>
            <a:endParaRPr lang="en-SG" sz="1000" b="1" u="sng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SG" sz="1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Accenture (Aug 2017 - present)</a:t>
            </a:r>
          </a:p>
          <a:p>
            <a:pPr lvl="0" algn="just">
              <a:spcAft>
                <a:spcPts val="800"/>
              </a:spcAft>
            </a:pPr>
            <a:r>
              <a:rPr lang="en-SG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Business &amp; Technology Team Lead 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Lead a cross-functional team of 6 for over 2 years with end-to-end system delivery - from design and implementation of a product backlog to architecting solutions and system enhancements for a national G2B authorisation platform that impacts a user base of over 1 million 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Proficient in data-driven requirements gathering and backlog prioritisation with the client in AGILE sprints, drawing conclusions and highlighting assumptions in line with strategic roadmap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Experienced in 24/7 PROD environment resiliency through monitoring, user alerts and monthly statistical reports, maintaining SLA of 99.9% for over 300 government digital services integrated with the national G2B platform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Well-versed in incident investigation, root-cause analysis, damage control and change management, resulting in a 100% incident resolution rate of the national G2B platform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Innovated and proposed a new authentication method that leverages upon Quick Response technology and two-factor authentication, resulting in over 50% decrease in transaction time and benefitting a user base of over 4 million nationwide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ECBFEA-8A29-4008-A2A3-8263F1B2F5D9}"/>
              </a:ext>
            </a:extLst>
          </p:cNvPr>
          <p:cNvSpPr txBox="1"/>
          <p:nvPr/>
        </p:nvSpPr>
        <p:spPr>
          <a:xfrm>
            <a:off x="2844796" y="5554471"/>
            <a:ext cx="3683705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Singapore Armed Forces Army </a:t>
            </a:r>
            <a:br>
              <a:rPr lang="en-GB" sz="1000" b="1" dirty="0"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</a:br>
            <a:r>
              <a:rPr lang="en-GB" sz="1000" b="1" dirty="0"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(Feb 2012 – Present)</a:t>
            </a:r>
            <a:endParaRPr lang="en-GB" sz="1000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Noto Sans Symbols"/>
            </a:endParaRP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Armoured Infantry Captain 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Proficient in advanced Armour platoon-level operations and division HQ planning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720437-7527-44A4-A539-2C2215E6DBAC}"/>
              </a:ext>
            </a:extLst>
          </p:cNvPr>
          <p:cNvSpPr txBox="1"/>
          <p:nvPr/>
        </p:nvSpPr>
        <p:spPr>
          <a:xfrm>
            <a:off x="7097483" y="7120029"/>
            <a:ext cx="3683705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Volunteering</a:t>
            </a:r>
            <a:endParaRPr lang="en-SG" sz="1100" b="1" u="sng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SG" sz="1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Love Kuching Project (2016 - present)</a:t>
            </a:r>
          </a:p>
          <a:p>
            <a:pPr lvl="0" algn="just">
              <a:spcAft>
                <a:spcPts val="800"/>
              </a:spcAft>
            </a:pPr>
            <a:r>
              <a:rPr lang="en-SG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Weekly Foster Care Shift Lead</a:t>
            </a:r>
            <a:endParaRPr lang="en-SG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Noto Sans Symbols"/>
            </a:endParaRPr>
          </a:p>
          <a:p>
            <a:pPr lvl="0" algn="just">
              <a:spcAft>
                <a:spcPts val="800"/>
              </a:spcAft>
            </a:pPr>
            <a:r>
              <a:rPr lang="en-GB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Volunteers weekly at Love Kuching Project, a community that provides cat therapy sessions to the vulnerable and rescues and rehabilitates injured, ill or orphaned cats with the goal of adoption</a:t>
            </a:r>
          </a:p>
          <a:p>
            <a:pPr lvl="0" algn="just">
              <a:spcAft>
                <a:spcPts val="800"/>
              </a:spcAft>
            </a:pPr>
            <a:r>
              <a:rPr lang="en-GB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Trained and taught foster care volunteers in all-round care, behavioural knowledge and medical care skills for sick, injured or orphaned felines, helping over 75 animals live a better life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355AE5-5CDB-4BE7-9991-071D7B0814AE}"/>
              </a:ext>
            </a:extLst>
          </p:cNvPr>
          <p:cNvSpPr txBox="1"/>
          <p:nvPr/>
        </p:nvSpPr>
        <p:spPr>
          <a:xfrm>
            <a:off x="2844796" y="6908243"/>
            <a:ext cx="3683704" cy="110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Competencies</a:t>
            </a:r>
            <a:endParaRPr lang="en-SG" sz="1100" b="1" u="sng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Leadership, project management, delivery, client management,</a:t>
            </a: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 solution architecting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, requirements gathering, wireframing, testing,</a:t>
            </a: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 waterfall, 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Microsoft</a:t>
            </a:r>
            <a:r>
              <a:rPr lang="en-SG" sz="10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 </a:t>
            </a: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Office Suite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, </a:t>
            </a:r>
            <a:r>
              <a:rPr lang="en-SG" sz="10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my</a:t>
            </a:r>
            <a:r>
              <a:rPr lang="en-SG" sz="1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SQL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, </a:t>
            </a: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DB2SQL, </a:t>
            </a:r>
            <a:r>
              <a:rPr lang="en-SG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AWS Solution</a:t>
            </a: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978011-0BF6-47DA-8E5D-F73DD29C1226}"/>
              </a:ext>
            </a:extLst>
          </p:cNvPr>
          <p:cNvSpPr txBox="1"/>
          <p:nvPr/>
        </p:nvSpPr>
        <p:spPr>
          <a:xfrm>
            <a:off x="2844796" y="9238945"/>
            <a:ext cx="3683704" cy="569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SG" sz="1400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Hobbies</a:t>
            </a:r>
            <a:endParaRPr lang="en-SG" sz="1100" b="1" u="sng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SG" sz="1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Bouldering, sailing, scuba diving (PADI AOW)</a:t>
            </a:r>
          </a:p>
        </p:txBody>
      </p:sp>
    </p:spTree>
    <p:extLst>
      <p:ext uri="{BB962C8B-B14F-4D97-AF65-F5344CB8AC3E}">
        <p14:creationId xmlns:p14="http://schemas.microsoft.com/office/powerpoint/2010/main" val="246597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386</Words>
  <Application>Microsoft Office PowerPoint</Application>
  <PresentationFormat>A4 Paper (210x297 mm)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Zenn™ .</dc:creator>
  <cp:lastModifiedBy>Zenn™ .</cp:lastModifiedBy>
  <cp:revision>7</cp:revision>
  <dcterms:created xsi:type="dcterms:W3CDTF">2021-07-30T14:12:28Z</dcterms:created>
  <dcterms:modified xsi:type="dcterms:W3CDTF">2021-07-30T15:53:05Z</dcterms:modified>
</cp:coreProperties>
</file>