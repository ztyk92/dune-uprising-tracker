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3"/>
  </p:notesMasterIdLst>
  <p:sldIdLst>
    <p:sldId id="256" r:id="rId2"/>
    <p:sldId id="261" r:id="rId3"/>
    <p:sldId id="262" r:id="rId4"/>
    <p:sldId id="263" r:id="rId5"/>
    <p:sldId id="257" r:id="rId6"/>
    <p:sldId id="298" r:id="rId7"/>
    <p:sldId id="299" r:id="rId8"/>
    <p:sldId id="258" r:id="rId9"/>
    <p:sldId id="264" r:id="rId10"/>
    <p:sldId id="271" r:id="rId11"/>
    <p:sldId id="268" r:id="rId12"/>
    <p:sldId id="272" r:id="rId13"/>
    <p:sldId id="303" r:id="rId14"/>
    <p:sldId id="284" r:id="rId15"/>
    <p:sldId id="295" r:id="rId16"/>
    <p:sldId id="285" r:id="rId17"/>
    <p:sldId id="288" r:id="rId18"/>
    <p:sldId id="259" r:id="rId19"/>
    <p:sldId id="305" r:id="rId20"/>
    <p:sldId id="289" r:id="rId21"/>
    <p:sldId id="306" r:id="rId22"/>
    <p:sldId id="274" r:id="rId23"/>
    <p:sldId id="300" r:id="rId24"/>
    <p:sldId id="273" r:id="rId25"/>
    <p:sldId id="275" r:id="rId26"/>
    <p:sldId id="304" r:id="rId27"/>
    <p:sldId id="277" r:id="rId28"/>
    <p:sldId id="280" r:id="rId29"/>
    <p:sldId id="302" r:id="rId30"/>
    <p:sldId id="282" r:id="rId31"/>
    <p:sldId id="29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72631-6B23-4004-A3F8-96724B7D438B}" type="datetimeFigureOut">
              <a:rPr lang="en-SG" smtClean="0"/>
              <a:t>3/6/2014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76956-F9CB-4A22-8844-18ED555AD0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227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http://yokanavi.com/eg/landmark/index/394</a:t>
            </a:r>
          </a:p>
          <a:p>
            <a:r>
              <a:rPr lang="en-SG" dirty="0" smtClean="0"/>
              <a:t>http://www.tripadvisor.com.sg/Attraction_Review-g298207-d1742643-Reviews-Asahi_Brewery_Hakata-Fukuoka_Fukuoka_Prefecture_Kyushu_Okinawa.html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5368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fld id="{14B2A56C-58A3-451A-AEFF-226AD6FFC80A}" type="slidenum">
              <a:rPr lang="en-US" altLang="ja-JP" sz="1200"/>
              <a:pPr/>
              <a:t>21</a:t>
            </a:fld>
            <a:endParaRPr lang="en-US" altLang="ja-JP" sz="1200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Mount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Aso</a:t>
            </a:r>
            <a:r>
              <a:rPr lang="en-US" baseline="0" dirty="0" smtClean="0"/>
              <a:t> Ropeway: first passenger lift to carry people to an active volcano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7996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67996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Space and Science museum</a:t>
            </a:r>
            <a:r>
              <a:rPr lang="en-US" baseline="0" dirty="0" smtClean="0"/>
              <a:t> to learn about the Universe, Earth and the relationship between them. Many interactive exhibits</a:t>
            </a:r>
            <a:endParaRPr lang="en-US" dirty="0" smtClean="0"/>
          </a:p>
          <a:p>
            <a:r>
              <a:rPr lang="en-US" dirty="0" err="1" smtClean="0"/>
              <a:t>Genkai</a:t>
            </a:r>
            <a:r>
              <a:rPr lang="en-US" dirty="0" smtClean="0"/>
              <a:t> Energy park: facility where visitors</a:t>
            </a:r>
            <a:r>
              <a:rPr lang="en-US" baseline="0" dirty="0" smtClean="0"/>
              <a:t> can come in contact with various forms of energy, with a focus on nuclear energy. Presence of a model nuclear reactor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1423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http://www.japanfs.org/en/news/archives/news_id031001.html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536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http://www.japanfs.org/en/news/archives/news_id031001.html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476956-F9CB-4A22-8844-18ED555AD0A5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5368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PRE-DEPARTURE BRIEFING – </a:t>
            </a:r>
            <a:r>
              <a:rPr lang="en-US" dirty="0" smtClean="0"/>
              <a:t>KYUSHU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Mike Tan</a:t>
            </a:r>
          </a:p>
          <a:p>
            <a:r>
              <a:rPr lang="en-US" dirty="0" smtClean="0"/>
              <a:t>SA Tours</a:t>
            </a:r>
            <a:endParaRPr lang="en-SG" dirty="0"/>
          </a:p>
        </p:txBody>
      </p:sp>
      <p:pic>
        <p:nvPicPr>
          <p:cNvPr id="1026" name="Picture 2" descr="new salogo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181598"/>
            <a:ext cx="1905000" cy="1540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74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FLIGHT DETAILS: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Departure and Transit:</a:t>
            </a:r>
          </a:p>
          <a:p>
            <a:pPr marL="0" indent="0">
              <a:buNone/>
            </a:pPr>
            <a:r>
              <a:rPr lang="en-US" dirty="0" smtClean="0"/>
              <a:t>-15 June 2014, Sunday</a:t>
            </a:r>
          </a:p>
          <a:p>
            <a:pPr marL="0" indent="0">
              <a:buNone/>
            </a:pPr>
            <a:r>
              <a:rPr lang="en-US" dirty="0" smtClean="0"/>
              <a:t>-Meet at </a:t>
            </a:r>
            <a:r>
              <a:rPr lang="en-US" b="1" dirty="0" smtClean="0">
                <a:solidFill>
                  <a:srgbClr val="FF0000"/>
                </a:solidFill>
              </a:rPr>
              <a:t>8pm</a:t>
            </a:r>
            <a:r>
              <a:rPr lang="en-US" dirty="0" smtClean="0"/>
              <a:t>, </a:t>
            </a:r>
            <a:r>
              <a:rPr lang="en-US" dirty="0" err="1" smtClean="0"/>
              <a:t>Changi</a:t>
            </a:r>
            <a:r>
              <a:rPr lang="en-US" dirty="0" smtClean="0"/>
              <a:t> Airport Terminal 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, Row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-KE644  </a:t>
            </a:r>
            <a:r>
              <a:rPr lang="en-US" dirty="0"/>
              <a:t>SINICN   </a:t>
            </a:r>
            <a:r>
              <a:rPr lang="en-US" dirty="0" smtClean="0"/>
              <a:t>2235/0555+1</a:t>
            </a:r>
          </a:p>
          <a:p>
            <a:pPr marL="0" indent="0">
              <a:buNone/>
            </a:pPr>
            <a:r>
              <a:rPr lang="en-US" dirty="0" smtClean="0"/>
              <a:t>-KE787  ICNFUK  0800/0920</a:t>
            </a:r>
            <a:endParaRPr lang="en-US" dirty="0"/>
          </a:p>
          <a:p>
            <a:endParaRPr lang="en-US" sz="2800" b="1" dirty="0" smtClean="0"/>
          </a:p>
          <a:p>
            <a:r>
              <a:rPr lang="en-US" sz="2800" b="1" dirty="0" smtClean="0"/>
              <a:t>Arrival and Transit:</a:t>
            </a:r>
          </a:p>
          <a:p>
            <a:pPr marL="0" indent="0">
              <a:buNone/>
            </a:pPr>
            <a:r>
              <a:rPr lang="en-US" dirty="0" smtClean="0"/>
              <a:t>-21 June 2014, Saturday</a:t>
            </a:r>
          </a:p>
          <a:p>
            <a:pPr marL="0" indent="0">
              <a:buNone/>
            </a:pPr>
            <a:r>
              <a:rPr lang="en-US" dirty="0" smtClean="0"/>
              <a:t>-KE788  FUKICN  1030/1155</a:t>
            </a:r>
          </a:p>
          <a:p>
            <a:pPr marL="0" indent="0">
              <a:buNone/>
            </a:pPr>
            <a:r>
              <a:rPr lang="en-US" dirty="0" smtClean="0"/>
              <a:t>-KE643  ICNSIN   1420/1930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094514" y="3052074"/>
            <a:ext cx="2449286" cy="646331"/>
          </a:xfrm>
          <a:prstGeom prst="rect">
            <a:avLst/>
          </a:prstGeom>
          <a:solidFill>
            <a:schemeClr val="accent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Transit at Incheon Airport for 1h 15 </a:t>
            </a:r>
            <a:r>
              <a:rPr lang="en-US" dirty="0" err="1" smtClean="0"/>
              <a:t>mins</a:t>
            </a:r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5410200"/>
            <a:ext cx="2449286" cy="646331"/>
          </a:xfrm>
          <a:prstGeom prst="rect">
            <a:avLst/>
          </a:prstGeom>
          <a:solidFill>
            <a:schemeClr val="accent1">
              <a:alpha val="5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Transit at Incheon Airport for 1h 15 </a:t>
            </a:r>
            <a:r>
              <a:rPr lang="en-US" dirty="0" err="1" smtClean="0"/>
              <a:t>mins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132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FLIGHT LOGISTICS: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 will serve dinner 2 hours after takeoff</a:t>
            </a:r>
          </a:p>
          <a:p>
            <a:r>
              <a:rPr lang="en-US" dirty="0" smtClean="0"/>
              <a:t>Flight is 6 hours 20 minutes</a:t>
            </a:r>
          </a:p>
          <a:p>
            <a:r>
              <a:rPr lang="en-US" dirty="0" smtClean="0"/>
              <a:t>Keep your boarding pass and passports after check-in in your bags. You are likely to lose them if you hold them on your hands.</a:t>
            </a:r>
          </a:p>
          <a:p>
            <a:r>
              <a:rPr lang="en-US" dirty="0" smtClean="0"/>
              <a:t>Seats are assigned by airline. If you want to exchange seats, do so after everyone has settled down.</a:t>
            </a:r>
          </a:p>
          <a:p>
            <a:r>
              <a:rPr lang="en-US" dirty="0" smtClean="0"/>
              <a:t>For those with dietary restrictions, meals are given by seat number, so do not move away.</a:t>
            </a:r>
          </a:p>
          <a:p>
            <a:r>
              <a:rPr lang="en-US" dirty="0" smtClean="0"/>
              <a:t>Those who can’t eat beef: meals are replaced with seafood</a:t>
            </a:r>
          </a:p>
        </p:txBody>
      </p:sp>
    </p:spTree>
    <p:extLst>
      <p:ext uri="{BB962C8B-B14F-4D97-AF65-F5344CB8AC3E}">
        <p14:creationId xmlns:p14="http://schemas.microsoft.com/office/powerpoint/2010/main" val="270452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FLIGHT LOGISTICS: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r>
              <a:rPr lang="en-US" dirty="0" smtClean="0"/>
              <a:t>Each person is allowed to bring max 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 pieces of luggage</a:t>
            </a:r>
          </a:p>
          <a:p>
            <a:pPr marL="0" indent="0">
              <a:buNone/>
            </a:pPr>
            <a:r>
              <a:rPr lang="en-US" dirty="0" smtClean="0"/>
              <a:t>-1 for check-in </a:t>
            </a:r>
            <a:r>
              <a:rPr lang="en-US" b="1" dirty="0" smtClean="0">
                <a:solidFill>
                  <a:srgbClr val="FF0000"/>
                </a:solidFill>
              </a:rPr>
              <a:t>(Max 20kg) </a:t>
            </a:r>
            <a:r>
              <a:rPr lang="en-US" dirty="0" smtClean="0"/>
              <a:t>and 1 for hand-carry </a:t>
            </a:r>
            <a:r>
              <a:rPr lang="en-US" b="1" dirty="0" smtClean="0">
                <a:solidFill>
                  <a:srgbClr val="FF0000"/>
                </a:solidFill>
              </a:rPr>
              <a:t>(55cm </a:t>
            </a:r>
            <a:r>
              <a:rPr lang="en-US" b="1" dirty="0">
                <a:solidFill>
                  <a:srgbClr val="FF0000"/>
                </a:solidFill>
              </a:rPr>
              <a:t>X </a:t>
            </a:r>
            <a:r>
              <a:rPr lang="en-US" b="1" dirty="0" smtClean="0">
                <a:solidFill>
                  <a:srgbClr val="FF0000"/>
                </a:solidFill>
              </a:rPr>
              <a:t>40cm X20cm)</a:t>
            </a:r>
          </a:p>
          <a:p>
            <a:r>
              <a:rPr lang="en-US" dirty="0" smtClean="0"/>
              <a:t>To assist logistics in getting everybody’s luggage after arrival, all luggage will be tagged for easy retrieval.</a:t>
            </a:r>
          </a:p>
          <a:p>
            <a:r>
              <a:rPr lang="en-US" sz="2800" b="1" dirty="0" smtClean="0">
                <a:solidFill>
                  <a:srgbClr val="FF0000"/>
                </a:solidFill>
              </a:rPr>
              <a:t>IMPORTANT:</a:t>
            </a:r>
          </a:p>
          <a:p>
            <a:pPr marL="0" indent="0">
              <a:buNone/>
            </a:pPr>
            <a:r>
              <a:rPr lang="en-US" dirty="0" smtClean="0"/>
              <a:t>-Night cream, lotions, contact lens solution, toiletries, hairspray, hair gel </a:t>
            </a:r>
            <a:r>
              <a:rPr lang="en-US" dirty="0" err="1" smtClean="0"/>
              <a:t>etc</a:t>
            </a:r>
            <a:r>
              <a:rPr lang="en-US" dirty="0" smtClean="0"/>
              <a:t> must </a:t>
            </a:r>
            <a:r>
              <a:rPr lang="en-US" b="1" dirty="0" smtClean="0">
                <a:solidFill>
                  <a:srgbClr val="FF0000"/>
                </a:solidFill>
              </a:rPr>
              <a:t>all</a:t>
            </a:r>
            <a:r>
              <a:rPr lang="en-US" dirty="0" smtClean="0"/>
              <a:t> be kept in check-in luggage</a:t>
            </a:r>
          </a:p>
          <a:p>
            <a:pPr marL="0" indent="0">
              <a:buNone/>
            </a:pPr>
            <a:r>
              <a:rPr lang="en-US" dirty="0" smtClean="0"/>
              <a:t>-You can bring medicine, eye drops or contact lens solution (if required) on board, but all liquids must be in </a:t>
            </a:r>
            <a:r>
              <a:rPr lang="en-US" b="1" dirty="0" smtClean="0">
                <a:solidFill>
                  <a:srgbClr val="FF0000"/>
                </a:solidFill>
              </a:rPr>
              <a:t>max 100ml </a:t>
            </a:r>
            <a:r>
              <a:rPr lang="en-US" dirty="0" smtClean="0"/>
              <a:t>bottles and in transparent zip lock bags.</a:t>
            </a:r>
          </a:p>
          <a:p>
            <a:pPr marL="0" indent="0">
              <a:buNone/>
            </a:pPr>
            <a:r>
              <a:rPr lang="en-US" dirty="0" smtClean="0"/>
              <a:t>-Try not to wear contacts and bring an extra pair of glasses</a:t>
            </a:r>
          </a:p>
        </p:txBody>
      </p:sp>
    </p:spTree>
    <p:extLst>
      <p:ext uri="{BB962C8B-B14F-4D97-AF65-F5344CB8AC3E}">
        <p14:creationId xmlns:p14="http://schemas.microsoft.com/office/powerpoint/2010/main" val="3278273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ACCOMODATION DETAILS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b="1" dirty="0" smtClean="0"/>
              <a:t>Hakata </a:t>
            </a:r>
            <a:r>
              <a:rPr lang="en-US" b="1" dirty="0" err="1" smtClean="0"/>
              <a:t>Miyako</a:t>
            </a:r>
            <a:r>
              <a:rPr lang="en-US" b="1" dirty="0" smtClean="0"/>
              <a:t> Hotel (16, 19, 20 June)</a:t>
            </a:r>
          </a:p>
          <a:p>
            <a:r>
              <a:rPr lang="en-US" dirty="0" smtClean="0"/>
              <a:t>1 minute away from JR Line Hakata Station (</a:t>
            </a:r>
            <a:r>
              <a:rPr lang="en-US" dirty="0" err="1" smtClean="0"/>
              <a:t>Shinkasen</a:t>
            </a:r>
            <a:r>
              <a:rPr lang="en-US" dirty="0" smtClean="0"/>
              <a:t>) and Hakata City located in the station</a:t>
            </a:r>
          </a:p>
          <a:p>
            <a:r>
              <a:rPr lang="en-US" dirty="0" smtClean="0"/>
              <a:t>All guest rooms have free Wi-Fi and wired internet access</a:t>
            </a:r>
          </a:p>
          <a:p>
            <a:r>
              <a:rPr lang="en-US" dirty="0" smtClean="0"/>
              <a:t>Free Wi-Fi is also available in lobby (level 2)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2050" name="Picture 2" descr="http://www.miyakohotels.ne.jp/image.jsp?id=385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495800"/>
            <a:ext cx="32004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upload.wikimedia.org/wikipedia/commons/thumb/e/e5/Hakata_Station_illuminations.JPG/220px-Hakata_Station_illumina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495800"/>
            <a:ext cx="2859314" cy="214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6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ACCOMODATION DETAILS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2302"/>
            <a:ext cx="8229600" cy="4876800"/>
          </a:xfrm>
        </p:spPr>
        <p:txBody>
          <a:bodyPr/>
          <a:lstStyle/>
          <a:p>
            <a:r>
              <a:rPr lang="en-US" b="1" dirty="0" smtClean="0"/>
              <a:t>Best Western Premier Hotel Nagasaki (17 June)</a:t>
            </a:r>
          </a:p>
          <a:p>
            <a:r>
              <a:rPr lang="en-US" dirty="0" smtClean="0"/>
              <a:t>5 minutes walk from JR Nagasaki Station</a:t>
            </a:r>
          </a:p>
          <a:p>
            <a:r>
              <a:rPr lang="en-US" dirty="0" smtClean="0"/>
              <a:t>Wi-Fi present in both the guest rooms and hotel lobby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3074" name="Picture 2" descr="Exteri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581400"/>
            <a:ext cx="2579914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Guest Ro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581401"/>
            <a:ext cx="3624823" cy="256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41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ACCOMODATION DETAILS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b="1" dirty="0" err="1" smtClean="0"/>
              <a:t>Beppu</a:t>
            </a:r>
            <a:r>
              <a:rPr lang="en-US" b="1" dirty="0" smtClean="0"/>
              <a:t> </a:t>
            </a:r>
            <a:r>
              <a:rPr lang="en-US" b="1" dirty="0" err="1" smtClean="0"/>
              <a:t>Seifu</a:t>
            </a:r>
            <a:r>
              <a:rPr lang="en-US" b="1" dirty="0" smtClean="0"/>
              <a:t> </a:t>
            </a:r>
            <a:r>
              <a:rPr lang="en-US" b="1" dirty="0" smtClean="0"/>
              <a:t>Hotel (18 June)</a:t>
            </a:r>
          </a:p>
          <a:p>
            <a:r>
              <a:rPr lang="en-US" dirty="0" smtClean="0"/>
              <a:t>10 </a:t>
            </a:r>
            <a:r>
              <a:rPr lang="en-US" dirty="0" smtClean="0"/>
              <a:t>minutes walk from JR </a:t>
            </a:r>
            <a:r>
              <a:rPr lang="en-US" dirty="0" err="1" smtClean="0"/>
              <a:t>Beppu</a:t>
            </a:r>
            <a:r>
              <a:rPr lang="en-US" dirty="0" smtClean="0"/>
              <a:t> Station</a:t>
            </a:r>
          </a:p>
          <a:p>
            <a:r>
              <a:rPr lang="en-US" dirty="0" smtClean="0"/>
              <a:t>3 different Hot Spring Baths, Open-Air Baths and Sauna (No bathing suits allowed in </a:t>
            </a:r>
            <a:r>
              <a:rPr lang="en-US" dirty="0" err="1" smtClean="0"/>
              <a:t>onsens</a:t>
            </a:r>
            <a:r>
              <a:rPr lang="en-US" dirty="0" smtClean="0"/>
              <a:t>)</a:t>
            </a:r>
          </a:p>
          <a:p>
            <a:r>
              <a:rPr lang="en-US" dirty="0" smtClean="0"/>
              <a:t>Free Wi-Fi in Lobby</a:t>
            </a:r>
            <a:endParaRPr lang="en-US" dirty="0" smtClean="0"/>
          </a:p>
          <a:p>
            <a:endParaRPr lang="en-SG" dirty="0"/>
          </a:p>
        </p:txBody>
      </p:sp>
      <p:sp>
        <p:nvSpPr>
          <p:cNvPr id="4" name="AutoShape 4" descr="data:image/jpeg;base64,/9j/4AAQSkZJRgABAQAAAQABAAD/2wCEAAkGBxQTEhUUEhQWFRUWGRgYFxUVFxYYFRUcGBgXFhcVGBcYHCggGBolHBQYITEhJSkrLi4uFx8zODMsNygtLisBCgoKDg0OGxAQGywlHyQsLCwsLCwsLCwsLCwsLCwsLCwsLCwsLCwsLCwsLCwsLCwsLCwsLCwsLCwsLCwsLCwsLP/AABEIALsA+QMBIgACEQEDEQH/xAAcAAACAwEBAQEAAAAAAAAAAAAEBQIDBgEABwj/xABBEAACAQIEAwUFBgQFAwUBAAABAhEAAwQSITEFQVETImFxgQYykaHBBxQjQrHwUnKS0RVigrLhFjNTNENUY/Ek/8QAGgEAAgMBAQAAAAAAAAAAAAAAAgMAAQQFBv/EACsRAAICAgIBAwMEAgMAAAAAAAABAhEDIRIxMgRBURMicWGBkeEUwQXR8P/aAAwDAQACEQMRAD8AwM16a8a5W8AlNezVGuVCic13NUJr01CFgNemoA12ahZViyY0JGh20pSrEGRp4inF1ZgbeO/yo3h3C7AIlWun/Ocq/wBC7+prn583Cbs1YsLmlQksY5pCkZidgvvH0508t8OuQC69mD/5O6f6TrWqxd3srINtVtLBns1C6c9V1NIcNlcgksoMySDmrNH/AJDJJOl/s0v0UI+TsrtYS2PeZnPRQFH9Rkn4CjbWIVNURLcfmMFv6mn5UNfw+YxbZlE6GBmI+lXvg0KjtACF2LeQpGTK5+Tb/wDfA/HBR8Ul+oPjsYQcz5nZtoEk89+Qo/AhZlwfADT5mpWLGYwCF035RpVuHtgNrqNduvKktqqQ3du3/AwXBC6pEsqzMKdxyUk8v7Uqx2HVBBgKugza+WsVocDhGdAM5Q6ElY1028qW8Yw66h4y7nNEbzrPnWbHP7qs0Tjq0v3EQuhgWQ5gJ25xyqGEuM0yhQaRO59IotGTKShUqJ1TUab7c6qwmJFwmFYAc2ET5VtXvoye6t/wcs4e5mk3O7PuAbjoatxXDkuEM6BiBAnb4VbaV9ZCr3tOpWP1muY7hy3YzM0Ae6p0MnnQ8vuWwlFU6V/kBxEIDsqr8BQCX1cnKSY8Ips9gBcsd0CNdt/GhHjYEachFNg1Qqad/wCjN3h3j5mqI79F3x3m8zQxHf8AT6V0I9HMl2w7CDu+tXRUMEO761eRWyHihTK4r0VOK9FEURqdcipxUIQZajVhqJFQhCa9XSK5UIcrorldFQh0VIV4CuirIRcU0wFnv5pPQCe6B5Uupvw+woefzHx5abDpXI9Z5s6PpUuKscYnFq1olWzZNwusaTHifClWJRo7oBOkZtv2KaW8Vba03ZCQm4VYkxsOu1AtnZZChGJ2czA6mOfhXOx6v8m/Juin7qzAAsVPMpz8PCmP3G2VHaAELsXI+fjVAwhdQpcqeZTSfDwp3bwFsoO0AIXbOfnrzqsmTrf8F44P4/kTYy+tuJkzsFEzA+VTc3AAbaBif4jAXTc9at4rjUsAFgxnRQi5idOXpVlx3ABS3nJ5ExGnM1N0nRH21Y5wGHd0AW52bfmKieWoHrzpfxPAAr2bzcHMtu2s6xTbhofKNQp/Nz5bD1oTi+GzgqxOvMaGskZ1k2x7ja0vYQ2cOiLlthVUTouw67c6uv2SrBW3KhgOUEwDXsNw9LKlUXKJJMncncmajZxlu4xVHVyBqAZgTG/Latj220IWq9iFt2k/hkANEk7jmwqvimCuuFFq72QHvELJPl0rg4uvbdiLdxiGys4XuLzknpReON4QLKod5LcvnV7UkC+Li02wB8J+GLbkv3QCx3bxoMYJU91Yn501v2Ha3DHK5GrLyPUUqwvDeymbj3Cebf2psJae/wBhc1ta/cz+KHfbzNBkd/0+lH4sfiN/MaCb3x5fSunHxRy5+TGOCHd9aviq8AO6fP6URlrbDxQl9sqivEVYVrkURRCKnFcNTqEKWqNTNQNUQ4a4a7UTUIcror1dFQhIVKoipirIdAp1w8J2hjLn59YpRbGtPeG3kN0oPfAkwunKO91ri+t83o6npK4oZLiM1tiqt3dgRlzHwnlQuVyJIVWnUTmAE6+ZijLV93Vz2TKVJCByPxNN9NhVRt3CmpVH6r3gBPjua5q0/bs3y389HFwpYAFmEGSV0nwPhWis4G2bX4gUhNs502idT4Vn7nCxdRUuM5GhJU5S2+8cq1eEwVrsYcKVQaZ+UADnSPUT0t+/wFFVbozvFsbbsAFzAOi5QSTtoAK9dusoBS2XJ5AgRpOs7UZxPFJags2WfdjnA2EVTfvlQCqO87BfKdelHF6Tr+QpdvYbYFwqOzyqxic2oXTXbczQ/E8Gz2jbe4QxEF7fdO/LpRVtrmQG2q5yRo50Uc9eZrmJtXGtwWCXDuyiQNeQ8qWm0712E1a6EWA4UllCilmBJJLmWJOh19K9hsBbt/8AbRVJ3ygSfPnRdvClVIa41wnmdCJEQANudUYPhyWiSgMkQSSSfnWjnd7/ALE8KrX9HfvtsNkLjNIGXnJ2ruNxPZwBbdyZ90befSi7dhQZyqCTvAk+M1cBqBMEz8t6DlG+i907Youl2t5lXK5EhW5HWAaVql6SbuWI0C6a+cU+x5yqzAZsoJgc/AaVnsNjblxjmsG0sSCTMnpsK04W2nSE5Gk1tmdxw/EfzNAv74phxAfiv5/Sgbh74/fKutDxRycnkxnw73T5/SiTVHDh3T5/SiSK3Q8UIfZWahVhFQIoiiNTqNSqEKCaiTXia5VEOGvV6vVCHqkBXK6KhCQFSFRFSFQhbZGvw/WtRw65LFcraaloheWgPM1mcMNfUfrWr4U7m4VNshABFwsO8eYA5Dxrhev82df0Xig+32jK34YVh7gZpzabmNqGezcKQzqrz7yrIAnYA+FH2VvFHzKiMdEglhtoW9aFOFudkFe73+dxFA+ANcyMt+x0Gvyet4HMoRmcxuQcrNuNY5U/yWVs/jZMiDe4RAAG8nwpMnDldAjs5AiTmyluWpEfCnX3K0yBbiKyqIAfUbRz30pOaSdK/wCC1F10KeMcTtWArXGyqxAWATM9I8KhicWEAbK75tgiydp16CmONZFiYH8Ok0FisWtsSZMmBlUknnyo4u60y5PvaCrV1xbVktlmMHITlKz1NdxK3Tb0CpcPI95Rr89KIw9zuqQrHNGkQRPMjlXcZmyE21BbkrGBvzPLSTSuVPr3C/6EOFw11UIvXBccz3gIgGYEeE1ThMHkMl3cxHeiPhReGW/kb7xkz5mIybAHYHx1r1meZB8q1cnsTxWtBFm1vGxien7mpuo5xPj86V3/AGdS7fW89y6ShBRMwyLEcomJFOnsgkMRqJj1MmlS4rphJOnqhdi2CqWJ0AknoBuaQHiNq4xVHzECdOlaXFWgFIju6yDtrv8ArSW9aUe6FHkB9K0YWqF5eSMZxIfiv5/SgLh76j986ZcVH4z+f0FLn99f31rt4/FHEyeTGnDtj50STQvD9j++VFVux+KEPsiagamagaMohU65UqhAImvVGa9NAQ7XajNdqyHakK5XHaAaqyFgroqK1IVdkC8GP1H61reDdqbhBVBaA7pnvlvHoKyvDxv5itnwYHMZiOQ51wP+Rf3M7XoV9qGFq1dKNna2GPuFQSF0/NJ1oNMI6Wwj3WdhvcgKW1OkbDl6U3Sy+RszjMdiFgLy2JoDGYYlcpd5mcwgN1jbTpXIhP2/X4Og4nbGFDAK0kDXeCfOKbDBoygMoIXbNrGlKcPggyC2S5Aj8xDHlqV3p19xtsoV1DBdg09IpeWX6lPSAeJXbaAFyqjkWj5UBexqWwGZoB28dJ5eFM+IW00DBPDMB05TS576W4LsqjlOnw9KZjqiMZW8SoQPDMDEZVLEz4DUVK7dm3nVGJ5Ie6x1jY7aV5MWiqHZu6YgjWZ2iKnexS9n2glljkDJ1jQb0r36LvfYoe4zAlrZQ8gSDOnhtrQODN4n8RUUR+ViTPrypneuhpgMI6gidJ0mgsPeZmg22QRMtG/TetcXp6QDq1suWzeLyLiKkju5CWjmJmBzonHYRnAy3Wt7zlAJb1O1VJduhoW0CsjvFwNOZiKKxhu6dkEO85yR5EQKW27XReqfYvvYWLXZszMCCCze8Z8qRW+FpbYlA0kRLMT8q0F9XKEMVVyG1WYBOxE60mXD3FM3LoYRsFj1kk1oxSdPYrJFWnRjuMD8Z/MfoKW3AMw/fWmvGx+O/mP9opXdXvL++td3F4r8HFy+T/Iy4fsfSijQuA5+lEmt2PxRml2RNRqRqNGUcNSqBNTmoQVF66DVF9wzt2Y7o8SdBALa67n5iuIpYbHmRo2sbxpyrNyDoMcEGDoelRBoW60btvyMz568qsW+ukMNSBMkb8zOwq1IlF1y8FEmqTig2ign6eJ8KFxV/NtoP3rRvC8ELpSWRQSUJL5SuoPaPA0QSBNBPJRajYMMRFznvEfKKIuY3Tujzmopw9jiDatFXaSqmRDawIZuukHTei8Zwe7bw4vHLkd8u4zSsct+dD9VdBLGxhwS5mDEiII03+gra8JVgxJIy8lC6j1nWsX7MEQ8CNV5z9K3nDbZmSfIQBH9643rpfczr+jX2obJbbIwZySdmCgFfLkfWgbmF7uUu5MznkBt5iQNqPSycpBdiTz7oK+UCqLmGlcuZjrMz3uu4+FcqMqN9foUW8IGAQloEfmIJ5akb04OER1CuuYAaAk9KX/dQ0AzoZGpGvKjjYVgAwMDbU/PrQZJX7gyjoHxuHVoDKpjaRMctJoMoNJAjlIEbcpo7E2FaJAMbTyod8MpgMqkDYETHlRwlosKsOFA1AGgB0A9OVdxOJULnLDKPzSI3jeo27YgCBA2ECKscADkB5ab0FKy/cWLfRwSjBgN4+MUDwziS3mdQjrkMAsCA4/iXwnSmOGxqXc3ZtORijQCIYbirEYHZp8Kf1aa/oHunZT96CtlyXCZjRHI85iI1om8xEALMzryEdakLqjQsJ6SAf1qy7cVfeYCZ3IHpS3XwX87ALslScsHWAflSy/JgFI6mR+lOrjqVzA5lgnTWY6Vn8DxdL4OVXQgsIcQdOfPTWn47autATq1vZi/aBYxD/6f9opPfHfT99ade0f/AKh/9P8AtFJb47y+f969Dh8F+Dh5vN/kY4Hn6UUaS4i6RzI0Ox56RNCl2icx/q108K1QyUqM8ls0VcIoezjBlEyTFT++L409SALMpqfZmq1xSnnHnU/vKfxCpyIZLOZ315USiMRIA18dwaFu2WEfSmWFVzBMlco5xrtWMYkUjhV1lZwrEKQC2pVZ2BPLbQVzE8KvIcrpkaBo0g66gwfCvo3sDjBbs3s+ISypdZRlR2buN3hnPLb1pV7a4u597Z7d+3cMIO0AXKRlHdgEgER1rHH1EnlcKGcEZXCYQwA/8Q56ZeY+NG/dlScogFWB56ypXflpVw4lffu3GtleiqAdNtaGv3eVaOcmqZfGK6BRhGMZY724OgHQDwo7GWGaZaPdjnMAA+W1RwxI5GBEnpO01LE36qTdlxSphfA7mVmAJIzDU8xX0nhRDa5j5aQK+UcLvA5iCDqK2HCOK5Tvr51z/W4nPaN3pMiiqN+bUqRJ157EUPctgCNfic2/Wllrja5TrI5mdqFxvF2Yhiw0iDIA0OmtcmGCdm95Eh7bUNpJ08SD6nnRpw4IEzptqR9ayC8ZC9644A6lon1507TiyFRJ05GfrzqsmGaJzUkHYrDqd+XjQj5W0IkDbXwoPG8RDenj5f2pPcxmonSPGKPHgbWyPIka63YUgAgQOVWth1y5YGXpy3/vWcw3FxAB/X61ff42ir3jA01J8etA8E7L5Luxg6JbByqqzJOUAAnrpQlq6gOgUHqAB8xSrFY7TTbzoXD4gA6fr9JrQsLp2wPqLSRrrSqTMLPkJoqBzis/hsSNzM+Zo44oH08azSxuxl2E4hwBM6daRcQxgP5gfWisXd0iNNRWZx90KdBEaVp9PjsXlnRnOPNN9j5foKUXwcy+dMeJPNwny/Sl986r513seopHFybk2dvW5ZQeZjTxoO6FGgJkEg6aQNtedHX3grrHen4VXxThj2XXtQF7RRdXUTkYnKTG0wSAelOj0JkU27rZdADHgT4cqtclTDdJ/YqkXVUZhJ67RuajdxBcyYGkCKZegKLXuydBG20nYan1Mmvdp4H4Gh13BzGivvKdT8KnIugWzdGnvAeG9HhMxzSNRsRHLpypc2DYc1+Jo63ZTQl2DZRPT9KVIKIywIygzBMdDB18KC4paDaMwXXfkdNhJplw2yMsB5EaGN/0oHi9pQYdysMYK/s0vlY1xdAOEwqBiy3FY5SIET571GwgWACDrvrPyNWYa1b1y3J0bSAPMzFQsoAQAZ16bbUSAXQwwNq4UdlVuzEZzyE7T1oi1wi41trn5AQCSDEnah8HfuBGC+7+YT18OdGriSIQsezIUkKdJOhJ030FBfdhVfQF9xI2I9JFWi24OjDpV9/J2iC3mIO5YAc4EdaecMZWuhXQlCrCQNJVC2/Wo5R42Wk7pCW2bokM2/Lr8qKw+NdIyxI1BImPSYpl7TYW0pt9mWMgzqTBhYHzNKVUZCYOh3hiaSnGStIam12cuXmKlWylT1X6zpU7WJZVC6EDaS2nzoZHU/mPrpPxFFJZBVjrIjUH6VGkiKTskuPuZlY5WymQGEr6g71e+LVwe0QltwVfKB/pymgAh6/IUdgcIHzSTIUkQBy6zVSjFKy1JsG+9ONoI6GT9Kt4dwu9jHFpI0BOphVHU6a6kD1qhkbw+f8AejOCcYvYS4bloWySuU5gSIkHTXQ6VU4vi+C2C5NhF7gGMsNcQW5W3lLEQV1UMCNidDrA09K5iPZvGWRn7MbqulxDq4BWAPOPP40Vc9vcTdZibVmQ2kZhlIBUH/NuDrzAqWO9rLzgB7SMpa1dCgj3bfcCE5ZMm3JPptWdf5HukS38lH+HY8OiGwAxEgllCnSYzExOu017FJjQHzWYFqS5DiBCgnUEg91wdKu/65d7ttxZKtaYZuzfLnGQLkbTVcyhvlXuG+2sK9u/Ze+Wzl8zjvZ8mRZ3ygLr51XHN24otZH8ike0V4JkFtY11LEnUz08aShmHM+pmjb13MzHIRJJgbCTMDXYbVQZ/h+JArbGMY9IGUpS7YLrzqq+NV86LtjcnTUeO+1V4m3JSObR86YmC1aK7tgMRPKrLlkGMxZoAUZ2JgDZRJ0HhRNzBkuog6gn4Vd9xjlQfUSDWFszWKRZI+WvwqIEMJ00+FS4heK3XG0NFV5yWBJ161oT0ZmqZ1Tof06/2qOTwH79atuZAgKFs/5wYiRtlj61P/ErnU/0rVWQHus3OR4UUjpALjWAJnw6VoeL8FuJeS1bsjM2gcZshJIAIk5QDI3pdxjh+Ityly3bOUEFwqa5SZIbn6UMMkZq0HPFKD2X8OcdmMhIGvODvVHFimUdpJEmInp4Vbw27IjQCAYonEYRXSSobLJienOlXUh1XEUYUIZylgIMAkxrEwCPKreHYR7jKlq21xiRoiF28+6JrmD7FzKCDB8o0mt99lPELOFxTNeuC0pt5VzAw5JEAQPCnJ2xFUjGvwq9bLC4jW2UDMlxWV4OxAImK3PCeBG6ixbnujZfDypf9pONTEY17uHu51NtBADHRZBIAGijqeZNfQPs/uZUAYrOVdCxQ85lZis2eLtbH4pfbZjOJcCVDBtgHyik93ABdQGB6gsD8jX1P2huK10510gjcHTw6GsdxZLaKMxgwJmssJy5OPwOpNXVGVuT+ZmP8xJjymmVjBzhbrie6ybCd5/tS/FYhORnyBp5wf2jsLgb9lg3asQUgGNNiTyinSUmlQt0jK4fbXx3HjTnA4INYvN/Dk+ZikQxA0+Pzrdeyl/DtgsT2l1EYKNGYAmNRAO9Fm5Ja+QYNGMZIO5pz7M22N0jQyj9R+Umk1+4CSfHStR9ndjtcQFBEgNp1GUg/rUzX9NskezOvPMfCqWPgaZcdsdlea3/AAmDQaGaZB6slbF2CYTc/moizeDE6+73dfNjp/VXeH29bni5rvDrILXf56JlFOEHfueYrthPxn/lWrsHhxnu6cxFSsYOLzkqQpUQdYMRMfEVG6BrRd2dU3cJJPiI+dMFwo8fiaOOAXqfjWeeTiOxw5Get4aJnqD8KjioDW4H5xp/qp23D9Tq29KcRh2bszrPaFeX5bmUcquM1IZLHxQ7tYkTqBz/AFqF0A8qJt8LafeceWX6irsVgSsADEMWBjKgZhEd73dRrtWZO5VE2dK5HzbjNpO3cyZzHl00peDroPL+1aDFFkvOlxMxmQLqDMQwBGgHMNNP8Otm3ZR8PbRrrAhyFnsjsAJ8wZroPK4JJo5q9OpttM+fXrUHx+NVZj4/CtP/AIZdOZmUkjbunvk7xAii/wDpnGf/ABbn9H/NM+pD3aEvDP4LuGY438yiytyVjNnZSnUr3oB9KWe0aFnUMT+GgRQ7g5VXZV0GmtZ0XCNiR6moSKuMIoCWSUuwpbxB/sasONeIDTPI0AboFSe5sKPQNsOscSK/lGxEDTfyrd/Zxxm2uJU3ms2wEIBuqziTEAAEd7pXzZX8KdcJdZtlgogqZkyIMyetDVO0Embv2vxn3vGZ8G4v5bQUm1aa3ChnLACdQAwJJ6+FFcNvgiSzKcoAyGBOUakE8+dZDA40J3rN17TEENmDDQzpoNiK5bLz3Lgb+Vx+hIrLlxym9mnHKMUb3BksZa6yiNYKc9mlhsKAx3DRcLw1pokhnslC3kyman7L8QtKTaxdvu3gy52YCFymY6ydJonGcOwC4tLq3GCQZtqUyARlDQNV1/MZFZYanUrNMk5dIzt3hNxULNAGkKt15MmNRrljQmeRoS7wpogDMWG+ZGaeQ1ymNpHnWzwHsvevAsmICEuzKG3yk6JEFYAnUAb0m9oLeKwV1DcKPZzqnagANMSdA2h330rRGUW6UtinGtNGdt8McKCLbxBBbsnYAywADISDMfrVXYsImF00zIVVR1OZdB461o+EcXOHvW7twtmcv2aBAV0jvOAdW7+lOcXxKywzNcFtSSGzyitqSV74Ay67TVuWS6VP9xTjq0j56iExMHXZSsk9NTtNX4fE3LLFrQuoyn/uD8nIiRI12mtm2ES5ZhDYvE90kqGIWDqGUnva6HlFC2/ZeyJk3MscjGXcSRoDyFG5ZF5RYKjGS7Mn2zs35yzamSGY856kaSTRGBZjvFawexrFTfs3nEK2gbMyiCuXWWAKht+XxpDc4Mcw7G4pRjkU3QEOYKCwMNG8x1oXk9noKCXsVYG2wLyIlpHlUuHoc1yQR3tJ5+IqVnh94rnAQrEytwdSsc4MjarcNhrxZkFu5mUEsvdkBRJ94jlVctaDpFGE/wC5d8CKM0lRO2fTmJNuhXxsEjvTzlG+lct41QZ7k7HXKfLWqb5AtJDW0lXM0GhcNjJ2WfIg/pWg9g8VZu402biK4a2/dYTBENtyMTS+DnKilk4K0LbF9Z1oHiBS2LUHa4XJO2t5X+WtN/bfhtz77kwyW0W4EW3qNSLYZgF/L60s417OXMNhkvXyJuZcstmOsNtsNOlRYPuY7/KTivktxvtSo90Fuje6n9R39Kv4Xxq4xDi/dTKY/CC5ApksCzBtdBvvWabiiuu5P+VjoDESfjRmG46Uwv3dTKlsxUBQmg3JHeJ8NqkMah0tjMmTmlexBxhbmKxWmZ7hYLmJktACrAGxgbCjUZ7KhVTMJGYloYHbVCJA03IqjCXZuZlyyCIZQQVMRpB0rZ4b2ovC0Udbbk/+5cTNdHTvSBy5iKdJ3piYRa3Egl5rRGGxUouQ3hlKkZgJQT4idqB/62X+E/GkGLxepAJYxOZtY5AAbCBppVH3s9f0q16BSVz7LfreLqJj0w5PL41cmDPgKY2nBqw2RyNdD6ZzrFy4Dq3wq5MOu5E/8UUbJphwT2cxWJH4GHu3BPvBSE3/AIzC/Oq417EsWIgGwFEWzW94d9kuKaO2uWrPhmzN8Bp861HDfsowya3Hv3iP4cttD4TBPwIq9A8kfIA5o7A8FxF8/hWLlz+W2xHqYgV984X7M4O2xW1Ysh1jNI7RxO0ltpim2LYooyKbneUMqlVCKT3njwGsVTkicn7I+KYX2GxVi3dv4gC1bt2rjEZwWkKSoyCRqwFZe3jBM5UJ6xlPlKkVuvtF4zjXuXsOqhcKYClEJa6uhDFjJiRy6V87sYUl0UkDM6rrEjMwE+kmkSqXRoxyaWzQ4bjRUd1rluBAytmUA76HX4Gu4niHbLDXhdAIIS6zJqNjOtI+J4Y2rty3rCOy5uuUlZ+VAZtTJHqKUsSW6HPLfufROFcdZCSLAuKpLKQFcqciqsAmRqutW4ziGHxam1iLBtHN3ZNyyCWElssxqREiY518/s4mNZ16qdaI/wAZfYnMOjqGHzpbwq7G/Wpbo2nBvs0w1+5Fu/ct7kEG2/LqApB+O1OOOexNyxZnCYt7ly0fxQz5pA70dmZCmI056189wXGgpBFq2COaMyfIHWmHDuO9kzPau3rTP7xhbitrOsiTr1NNbmo0jKoJyv2HWOx+Lwly5DZ0jO91VlUDIR2YOixqO7qZE1im444YkN3ZzAEAgHaYI3o/j+Pe8ozYjtRJARVy+8SzZhrzNIBhy20epAHlrQwi2vu2w50ncRzhuKl1KrbRyCGAPc12JkeFWPxN1ZiVcQJhWzlthPmBWaxOHZdGkcxrofEEVKznywrEEazPKCTv5U+EVFULlJs2B4omQXGvNmdklLiAazAJkRoYG43phc4jYughuzzMQx7MQ25BGsgLryB86+f/AH26RlYhlO4IBptgscvYi2Ldu2QQTcljcaJGRTPdTUGOtBmgpLReObjKzWcPtq9xyuGtwykZScyrpJZW0giJ1p59lVwHGnKiBOxc5hE5s4XJvpoAdRzrK2MBf+7C+utuck6EgnlpBimv2e4wYG+btxS4ZGSbclpZ0juz4Has2FqL2w88XLaQ69uOP2rWOVDdNq5byOpyystbA1InkIiKV8dxV7F2kR7i38o7RVBRQFEjOMurnukRU/aL2xwz4q69zC920oXNct/iwYQlZjmes6nY0Lwd+GWw9+3cuNlUgWXYwpMDuMeYzSRJ50WTJKPSKxY0+2ZXAcDV7yJefsbbGDdfLkTfWSQOlbE+z2GwgynE2LyXkdQ6gObZEENKvCk7TWK4hxC9ZxVx8zK4MHMAeXuwZB8qvw19cSxN97GH0ntAjKWI2BVTBOp5CinuBUeUcn6FNrh4VgVJhhM6iNY571czFlOQlgJBzeHIDmao4ti9LYU905gFAIXutAIHQjX1pPfx72gcpjNIIj9x50z0qV8p/sM9TKvtiQxuKJ0SOjaifKqO0fqflQQbrXf3tWhuzHRfhb6g96fT+1EllMlbgMawd/hSuvO5G1WpVog0s4yfeMeY3r6H7F/aXYwWCSyyvcuAtpPdALGADqdfIV8lmakKn1GRxTPt/FftwtLphMIzH+O6wQeeVZJ+VY/iX2vcSuiFuW7I/wDqt974uWNYGvChIlR9T9hvtNvK628QyZiVBvOGJuKugRoOjRs3jr47Li3tZirdpwsAudGuqiwDAyohMnSdT8K/PVbj2duM9gZmJOozSc0AwBm3+dKlHdoNGm4T7Qi0ri4r3MxBC6wIVVks+s90+FZX2h9oiXDInZ94ZYIcADWT3dDOu+0VDGXSHKgwsTFK7TFiZ1qo41y5fJbm6or/AMTuXWYlySxJJ0EzrOxqq2ueZYA7azrVt5ABoI2oe2fe9aaCWrZPjp0iP0musT1/frVeG0XTT1ou0Z31oQihbxHKr1xnX9/D+1QxKAbVSRVOCLUmgl7/AEPz/wDyt/8AYuofGMHVWHZto4B6RlB5/Sa+akVvvsYb/wDvX+Vuh/LVwVFSlYf9tWBt2sTaKWlQMkkqIzNmInTTQAfGsEgzkQfDlzB6coJr6X9u9oC/hyBqUefGGEV8pI0bzH1qMuPQQMIQYDKY8Y/WibOEYkBgVBPvHb5V3FWwtq2VGrCSdyfU7V7Ca0mTY6KRp8JeVQLS3GyxJnaZ3ivX+5rM7EHoQdxA0obgVhWzkjUAEanr4U2w1oFCSNcyieeoef0FYpRpmpz+3oTX1tnvPJZjGhPeJkyeu060HxnhYFru90FpABIUnnA2OhM0Zxk5WSP4vPkRz86LwdsXHh+8AtwAdO9yimcmmhaSkmZNrSyWcszzsfdHj4mqlsMzQoJJ/ck8hTE2wueORMb6a+NMeFWhlXTffxp8ptCYwTdELPDWY2rYBZhIUL7xJiQs+VZnihyZtBIYiCP80a1pvae4Vt93SdDoNiDO9ZTiI/C9F+lM9O7TYOfToDt4sEHMi6dDE137yn/jP9X/ABS5d6My06zO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5" name="AutoShape 6" descr="data:image/jpeg;base64,/9j/4AAQSkZJRgABAQAAAQABAAD/2wCEAAkGBxQTEhUUEhQWFRUWGRgYFxUVFxYYFRUcGBgXFhcVGBcYHCggGBolHBQYITEhJSkrLi4uFx8zODMsNygtLisBCgoKDg0OGxAQGywlHyQsLCwsLCwsLCwsLCwsLCwsLCwsLCwsLCwsLCwsLCwsLCwsLCwsLCwsLCwsLCwsLCwsLP/AABEIALsA+QMBIgACEQEDEQH/xAAcAAACAwEBAQEAAAAAAAAAAAAEBQIDBgEABwj/xABBEAACAQIEAwUFBgQFAwUBAAABAhEAAwQSITEFQVETImFxgQYykaHBBxQjQrHwUnKS0RVigrLhFjNTNENUY/Ek/8QAGgEAAgMBAQAAAAAAAAAAAAAAAgMAAQQFBv/EACsRAAICAgIBAwMEAgMAAAAAAAABAhEDIRIxMgRBURMicWGBkeEUwQXR8P/aAAwDAQACEQMRAD8AwM16a8a5W8AlNezVGuVCic13NUJr01CFgNemoA12ahZViyY0JGh20pSrEGRp4inF1ZgbeO/yo3h3C7AIlWun/Ocq/wBC7+prn583Cbs1YsLmlQksY5pCkZidgvvH0508t8OuQC69mD/5O6f6TrWqxd3srINtVtLBns1C6c9V1NIcNlcgksoMySDmrNH/AJDJJOl/s0v0UI+TsrtYS2PeZnPRQFH9Rkn4CjbWIVNURLcfmMFv6mn5UNfw+YxbZlE6GBmI+lXvg0KjtACF2LeQpGTK5+Tb/wDfA/HBR8Ul+oPjsYQcz5nZtoEk89+Qo/AhZlwfADT5mpWLGYwCF035RpVuHtgNrqNduvKktqqQ3du3/AwXBC6pEsqzMKdxyUk8v7Uqx2HVBBgKugza+WsVocDhGdAM5Q6ElY1028qW8Yw66h4y7nNEbzrPnWbHP7qs0Tjq0v3EQuhgWQ5gJ25xyqGEuM0yhQaRO59IotGTKShUqJ1TUab7c6qwmJFwmFYAc2ET5VtXvoye6t/wcs4e5mk3O7PuAbjoatxXDkuEM6BiBAnb4VbaV9ZCr3tOpWP1muY7hy3YzM0Ae6p0MnnQ8vuWwlFU6V/kBxEIDsqr8BQCX1cnKSY8Ips9gBcsd0CNdt/GhHjYEachFNg1Qqad/wCjN3h3j5mqI79F3x3m8zQxHf8AT6V0I9HMl2w7CDu+tXRUMEO761eRWyHihTK4r0VOK9FEURqdcipxUIQZajVhqJFQhCa9XSK5UIcrorldFQh0VIV4CuirIRcU0wFnv5pPQCe6B5Uupvw+woefzHx5abDpXI9Z5s6PpUuKscYnFq1olWzZNwusaTHifClWJRo7oBOkZtv2KaW8Vba03ZCQm4VYkxsOu1AtnZZChGJ2czA6mOfhXOx6v8m/Juin7qzAAsVPMpz8PCmP3G2VHaAELsXI+fjVAwhdQpcqeZTSfDwp3bwFsoO0AIXbOfnrzqsmTrf8F44P4/kTYy+tuJkzsFEzA+VTc3AAbaBif4jAXTc9at4rjUsAFgxnRQi5idOXpVlx3ABS3nJ5ExGnM1N0nRH21Y5wGHd0AW52bfmKieWoHrzpfxPAAr2bzcHMtu2s6xTbhofKNQp/Nz5bD1oTi+GzgqxOvMaGskZ1k2x7ja0vYQ2cOiLlthVUTouw67c6uv2SrBW3KhgOUEwDXsNw9LKlUXKJJMncncmajZxlu4xVHVyBqAZgTG/Latj220IWq9iFt2k/hkANEk7jmwqvimCuuFFq72QHvELJPl0rg4uvbdiLdxiGys4XuLzknpReON4QLKod5LcvnV7UkC+Li02wB8J+GLbkv3QCx3bxoMYJU91Yn501v2Ha3DHK5GrLyPUUqwvDeymbj3Cebf2psJae/wBhc1ta/cz+KHfbzNBkd/0+lH4sfiN/MaCb3x5fSunHxRy5+TGOCHd9aviq8AO6fP6URlrbDxQl9sqivEVYVrkURRCKnFcNTqEKWqNTNQNUQ4a4a7UTUIcror1dFQhIVKoipirIdAp1w8J2hjLn59YpRbGtPeG3kN0oPfAkwunKO91ri+t83o6npK4oZLiM1tiqt3dgRlzHwnlQuVyJIVWnUTmAE6+ZijLV93Vz2TKVJCByPxNN9NhVRt3CmpVH6r3gBPjua5q0/bs3y389HFwpYAFmEGSV0nwPhWis4G2bX4gUhNs502idT4Vn7nCxdRUuM5GhJU5S2+8cq1eEwVrsYcKVQaZ+UADnSPUT0t+/wFFVbozvFsbbsAFzAOi5QSTtoAK9dusoBS2XJ5AgRpOs7UZxPFJags2WfdjnA2EVTfvlQCqO87BfKdelHF6Tr+QpdvYbYFwqOzyqxic2oXTXbczQ/E8Gz2jbe4QxEF7fdO/LpRVtrmQG2q5yRo50Uc9eZrmJtXGtwWCXDuyiQNeQ8qWm0712E1a6EWA4UllCilmBJJLmWJOh19K9hsBbt/8AbRVJ3ygSfPnRdvClVIa41wnmdCJEQANudUYPhyWiSgMkQSSSfnWjnd7/ALE8KrX9HfvtsNkLjNIGXnJ2ruNxPZwBbdyZ90befSi7dhQZyqCTvAk+M1cBqBMEz8t6DlG+i907Youl2t5lXK5EhW5HWAaVql6SbuWI0C6a+cU+x5yqzAZsoJgc/AaVnsNjblxjmsG0sSCTMnpsK04W2nSE5Gk1tmdxw/EfzNAv74phxAfiv5/Sgbh74/fKutDxRycnkxnw73T5/SiTVHDh3T5/SiSK3Q8UIfZWahVhFQIoiiNTqNSqEKCaiTXia5VEOGvV6vVCHqkBXK6KhCQFSFRFSFQhbZGvw/WtRw65LFcraaloheWgPM1mcMNfUfrWr4U7m4VNshABFwsO8eYA5Dxrhev82df0Xig+32jK34YVh7gZpzabmNqGezcKQzqrz7yrIAnYA+FH2VvFHzKiMdEglhtoW9aFOFudkFe73+dxFA+ANcyMt+x0Gvyet4HMoRmcxuQcrNuNY5U/yWVs/jZMiDe4RAAG8nwpMnDldAjs5AiTmyluWpEfCnX3K0yBbiKyqIAfUbRz30pOaSdK/wCC1F10KeMcTtWArXGyqxAWATM9I8KhicWEAbK75tgiydp16CmONZFiYH8Ok0FisWtsSZMmBlUknnyo4u60y5PvaCrV1xbVktlmMHITlKz1NdxK3Tb0CpcPI95Rr89KIw9zuqQrHNGkQRPMjlXcZmyE21BbkrGBvzPLSTSuVPr3C/6EOFw11UIvXBccz3gIgGYEeE1ThMHkMl3cxHeiPhReGW/kb7xkz5mIybAHYHx1r1meZB8q1cnsTxWtBFm1vGxien7mpuo5xPj86V3/AGdS7fW89y6ShBRMwyLEcomJFOnsgkMRqJj1MmlS4rphJOnqhdi2CqWJ0AknoBuaQHiNq4xVHzECdOlaXFWgFIju6yDtrv8ArSW9aUe6FHkB9K0YWqF5eSMZxIfiv5/SgLh76j986ZcVH4z+f0FLn99f31rt4/FHEyeTGnDtj50STQvD9j++VFVux+KEPsiagamagaMohU65UqhAImvVGa9NAQ7XajNdqyHakK5XHaAaqyFgroqK1IVdkC8GP1H61reDdqbhBVBaA7pnvlvHoKyvDxv5itnwYHMZiOQ51wP+Rf3M7XoV9qGFq1dKNna2GPuFQSF0/NJ1oNMI6Wwj3WdhvcgKW1OkbDl6U3Sy+RszjMdiFgLy2JoDGYYlcpd5mcwgN1jbTpXIhP2/X4Og4nbGFDAK0kDXeCfOKbDBoygMoIXbNrGlKcPggyC2S5Aj8xDHlqV3p19xtsoV1DBdg09IpeWX6lPSAeJXbaAFyqjkWj5UBexqWwGZoB28dJ5eFM+IW00DBPDMB05TS576W4LsqjlOnw9KZjqiMZW8SoQPDMDEZVLEz4DUVK7dm3nVGJ5Ie6x1jY7aV5MWiqHZu6YgjWZ2iKnexS9n2glljkDJ1jQb0r36LvfYoe4zAlrZQ8gSDOnhtrQODN4n8RUUR+ViTPrypneuhpgMI6gidJ0mgsPeZmg22QRMtG/TetcXp6QDq1suWzeLyLiKkju5CWjmJmBzonHYRnAy3Wt7zlAJb1O1VJduhoW0CsjvFwNOZiKKxhu6dkEO85yR5EQKW27XReqfYvvYWLXZszMCCCze8Z8qRW+FpbYlA0kRLMT8q0F9XKEMVVyG1WYBOxE60mXD3FM3LoYRsFj1kk1oxSdPYrJFWnRjuMD8Z/MfoKW3AMw/fWmvGx+O/mP9opXdXvL++td3F4r8HFy+T/Iy4fsfSijQuA5+lEmt2PxRml2RNRqRqNGUcNSqBNTmoQVF66DVF9wzt2Y7o8SdBALa67n5iuIpYbHmRo2sbxpyrNyDoMcEGDoelRBoW60btvyMz568qsW+ukMNSBMkb8zOwq1IlF1y8FEmqTig2ign6eJ8KFxV/NtoP3rRvC8ELpSWRQSUJL5SuoPaPA0QSBNBPJRajYMMRFznvEfKKIuY3Tujzmopw9jiDatFXaSqmRDawIZuukHTei8Zwe7bw4vHLkd8u4zSsct+dD9VdBLGxhwS5mDEiII03+gra8JVgxJIy8lC6j1nWsX7MEQ8CNV5z9K3nDbZmSfIQBH9643rpfczr+jX2obJbbIwZySdmCgFfLkfWgbmF7uUu5MznkBt5iQNqPSycpBdiTz7oK+UCqLmGlcuZjrMz3uu4+FcqMqN9foUW8IGAQloEfmIJ5akb04OER1CuuYAaAk9KX/dQ0AzoZGpGvKjjYVgAwMDbU/PrQZJX7gyjoHxuHVoDKpjaRMctJoMoNJAjlIEbcpo7E2FaJAMbTyod8MpgMqkDYETHlRwlosKsOFA1AGgB0A9OVdxOJULnLDKPzSI3jeo27YgCBA2ECKscADkB5ab0FKy/cWLfRwSjBgN4+MUDwziS3mdQjrkMAsCA4/iXwnSmOGxqXc3ZtORijQCIYbirEYHZp8Kf1aa/oHunZT96CtlyXCZjRHI85iI1om8xEALMzryEdakLqjQsJ6SAf1qy7cVfeYCZ3IHpS3XwX87ALslScsHWAflSy/JgFI6mR+lOrjqVzA5lgnTWY6Vn8DxdL4OVXQgsIcQdOfPTWn47autATq1vZi/aBYxD/6f9opPfHfT99ade0f/AKh/9P8AtFJb47y+f969Dh8F+Dh5vN/kY4Hn6UUaS4i6RzI0Ox56RNCl2icx/q108K1QyUqM8ls0VcIoezjBlEyTFT++L409SALMpqfZmq1xSnnHnU/vKfxCpyIZLOZ315USiMRIA18dwaFu2WEfSmWFVzBMlco5xrtWMYkUjhV1lZwrEKQC2pVZ2BPLbQVzE8KvIcrpkaBo0g66gwfCvo3sDjBbs3s+ISypdZRlR2buN3hnPLb1pV7a4u597Z7d+3cMIO0AXKRlHdgEgER1rHH1EnlcKGcEZXCYQwA/8Q56ZeY+NG/dlScogFWB56ypXflpVw4lffu3GtleiqAdNtaGv3eVaOcmqZfGK6BRhGMZY724OgHQDwo7GWGaZaPdjnMAA+W1RwxI5GBEnpO01LE36qTdlxSphfA7mVmAJIzDU8xX0nhRDa5j5aQK+UcLvA5iCDqK2HCOK5Tvr51z/W4nPaN3pMiiqN+bUqRJ157EUPctgCNfic2/Wllrja5TrI5mdqFxvF2Yhiw0iDIA0OmtcmGCdm95Eh7bUNpJ08SD6nnRpw4IEzptqR9ayC8ZC9644A6lon1507TiyFRJ05GfrzqsmGaJzUkHYrDqd+XjQj5W0IkDbXwoPG8RDenj5f2pPcxmonSPGKPHgbWyPIka63YUgAgQOVWth1y5YGXpy3/vWcw3FxAB/X61ff42ir3jA01J8etA8E7L5Luxg6JbByqqzJOUAAnrpQlq6gOgUHqAB8xSrFY7TTbzoXD4gA6fr9JrQsLp2wPqLSRrrSqTMLPkJoqBzis/hsSNzM+Zo44oH08azSxuxl2E4hwBM6daRcQxgP5gfWisXd0iNNRWZx90KdBEaVp9PjsXlnRnOPNN9j5foKUXwcy+dMeJPNwny/Sl986r513seopHFybk2dvW5ZQeZjTxoO6FGgJkEg6aQNtedHX3grrHen4VXxThj2XXtQF7RRdXUTkYnKTG0wSAelOj0JkU27rZdADHgT4cqtclTDdJ/YqkXVUZhJ67RuajdxBcyYGkCKZegKLXuydBG20nYan1Mmvdp4H4Gh13BzGivvKdT8KnIugWzdGnvAeG9HhMxzSNRsRHLpypc2DYc1+Jo63ZTQl2DZRPT9KVIKIywIygzBMdDB18KC4paDaMwXXfkdNhJplw2yMsB5EaGN/0oHi9pQYdysMYK/s0vlY1xdAOEwqBiy3FY5SIET571GwgWACDrvrPyNWYa1b1y3J0bSAPMzFQsoAQAZ16bbUSAXQwwNq4UdlVuzEZzyE7T1oi1wi41trn5AQCSDEnah8HfuBGC+7+YT18OdGriSIQsezIUkKdJOhJ030FBfdhVfQF9xI2I9JFWi24OjDpV9/J2iC3mIO5YAc4EdaecMZWuhXQlCrCQNJVC2/Wo5R42Wk7pCW2bokM2/Lr8qKw+NdIyxI1BImPSYpl7TYW0pt9mWMgzqTBhYHzNKVUZCYOh3hiaSnGStIam12cuXmKlWylT1X6zpU7WJZVC6EDaS2nzoZHU/mPrpPxFFJZBVjrIjUH6VGkiKTskuPuZlY5WymQGEr6g71e+LVwe0QltwVfKB/pymgAh6/IUdgcIHzSTIUkQBy6zVSjFKy1JsG+9ONoI6GT9Kt4dwu9jHFpI0BOphVHU6a6kD1qhkbw+f8AejOCcYvYS4bloWySuU5gSIkHTXQ6VU4vi+C2C5NhF7gGMsNcQW5W3lLEQV1UMCNidDrA09K5iPZvGWRn7MbqulxDq4BWAPOPP40Vc9vcTdZibVmQ2kZhlIBUH/NuDrzAqWO9rLzgB7SMpa1dCgj3bfcCE5ZMm3JPptWdf5HukS38lH+HY8OiGwAxEgllCnSYzExOu017FJjQHzWYFqS5DiBCgnUEg91wdKu/65d7ttxZKtaYZuzfLnGQLkbTVcyhvlXuG+2sK9u/Ze+Wzl8zjvZ8mRZ3ygLr51XHN24otZH8ike0V4JkFtY11LEnUz08aShmHM+pmjb13MzHIRJJgbCTMDXYbVQZ/h+JArbGMY9IGUpS7YLrzqq+NV86LtjcnTUeO+1V4m3JSObR86YmC1aK7tgMRPKrLlkGMxZoAUZ2JgDZRJ0HhRNzBkuog6gn4Vd9xjlQfUSDWFszWKRZI+WvwqIEMJ00+FS4heK3XG0NFV5yWBJ161oT0ZmqZ1Tof06/2qOTwH79atuZAgKFs/5wYiRtlj61P/ErnU/0rVWQHus3OR4UUjpALjWAJnw6VoeL8FuJeS1bsjM2gcZshJIAIk5QDI3pdxjh+Ityly3bOUEFwqa5SZIbn6UMMkZq0HPFKD2X8OcdmMhIGvODvVHFimUdpJEmInp4Vbw27IjQCAYonEYRXSSobLJienOlXUh1XEUYUIZylgIMAkxrEwCPKreHYR7jKlq21xiRoiF28+6JrmD7FzKCDB8o0mt99lPELOFxTNeuC0pt5VzAw5JEAQPCnJ2xFUjGvwq9bLC4jW2UDMlxWV4OxAImK3PCeBG6ixbnujZfDypf9pONTEY17uHu51NtBADHRZBIAGijqeZNfQPs/uZUAYrOVdCxQ85lZis2eLtbH4pfbZjOJcCVDBtgHyik93ABdQGB6gsD8jX1P2huK10510gjcHTw6GsdxZLaKMxgwJmssJy5OPwOpNXVGVuT+ZmP8xJjymmVjBzhbrie6ybCd5/tS/FYhORnyBp5wf2jsLgb9lg3asQUgGNNiTyinSUmlQt0jK4fbXx3HjTnA4INYvN/Dk+ZikQxA0+Pzrdeyl/DtgsT2l1EYKNGYAmNRAO9Fm5Ja+QYNGMZIO5pz7M22N0jQyj9R+Umk1+4CSfHStR9ndjtcQFBEgNp1GUg/rUzX9NskezOvPMfCqWPgaZcdsdlea3/AAmDQaGaZB6slbF2CYTc/moizeDE6+73dfNjp/VXeH29bni5rvDrILXf56JlFOEHfueYrthPxn/lWrsHhxnu6cxFSsYOLzkqQpUQdYMRMfEVG6BrRd2dU3cJJPiI+dMFwo8fiaOOAXqfjWeeTiOxw5Get4aJnqD8KjioDW4H5xp/qp23D9Tq29KcRh2bszrPaFeX5bmUcquM1IZLHxQ7tYkTqBz/AFqF0A8qJt8LafeceWX6irsVgSsADEMWBjKgZhEd73dRrtWZO5VE2dK5HzbjNpO3cyZzHl00peDroPL+1aDFFkvOlxMxmQLqDMQwBGgHMNNP8Otm3ZR8PbRrrAhyFnsjsAJ8wZroPK4JJo5q9OpttM+fXrUHx+NVZj4/CtP/AIZdOZmUkjbunvk7xAii/wDpnGf/ABbn9H/NM+pD3aEvDP4LuGY438yiytyVjNnZSnUr3oB9KWe0aFnUMT+GgRQ7g5VXZV0GmtZ0XCNiR6moSKuMIoCWSUuwpbxB/sasONeIDTPI0AboFSe5sKPQNsOscSK/lGxEDTfyrd/Zxxm2uJU3ms2wEIBuqziTEAAEd7pXzZX8KdcJdZtlgogqZkyIMyetDVO0Embv2vxn3vGZ8G4v5bQUm1aa3ChnLACdQAwJJ6+FFcNvgiSzKcoAyGBOUakE8+dZDA40J3rN17TEENmDDQzpoNiK5bLz3Lgb+Vx+hIrLlxym9mnHKMUb3BksZa6yiNYKc9mlhsKAx3DRcLw1pokhnslC3kyman7L8QtKTaxdvu3gy52YCFymY6ydJonGcOwC4tLq3GCQZtqUyARlDQNV1/MZFZYanUrNMk5dIzt3hNxULNAGkKt15MmNRrljQmeRoS7wpogDMWG+ZGaeQ1ymNpHnWzwHsvevAsmICEuzKG3yk6JEFYAnUAb0m9oLeKwV1DcKPZzqnagANMSdA2h330rRGUW6UtinGtNGdt8McKCLbxBBbsnYAywADISDMfrVXYsImF00zIVVR1OZdB461o+EcXOHvW7twtmcv2aBAV0jvOAdW7+lOcXxKywzNcFtSSGzyitqSV74Ay67TVuWS6VP9xTjq0j56iExMHXZSsk9NTtNX4fE3LLFrQuoyn/uD8nIiRI12mtm2ES5ZhDYvE90kqGIWDqGUnva6HlFC2/ZeyJk3MscjGXcSRoDyFG5ZF5RYKjGS7Mn2zs35yzamSGY856kaSTRGBZjvFawexrFTfs3nEK2gbMyiCuXWWAKht+XxpDc4Mcw7G4pRjkU3QEOYKCwMNG8x1oXk9noKCXsVYG2wLyIlpHlUuHoc1yQR3tJ5+IqVnh94rnAQrEytwdSsc4MjarcNhrxZkFu5mUEsvdkBRJ94jlVctaDpFGE/wC5d8CKM0lRO2fTmJNuhXxsEjvTzlG+lct41QZ7k7HXKfLWqb5AtJDW0lXM0GhcNjJ2WfIg/pWg9g8VZu402biK4a2/dYTBENtyMTS+DnKilk4K0LbF9Z1oHiBS2LUHa4XJO2t5X+WtN/bfhtz77kwyW0W4EW3qNSLYZgF/L60s417OXMNhkvXyJuZcstmOsNtsNOlRYPuY7/KTivktxvtSo90Fuje6n9R39Kv4Xxq4xDi/dTKY/CC5ApksCzBtdBvvWabiiuu5P+VjoDESfjRmG46Uwv3dTKlsxUBQmg3JHeJ8NqkMah0tjMmTmlexBxhbmKxWmZ7hYLmJktACrAGxgbCjUZ7KhVTMJGYloYHbVCJA03IqjCXZuZlyyCIZQQVMRpB0rZ4b2ovC0Udbbk/+5cTNdHTvSBy5iKdJ3piYRa3Egl5rRGGxUouQ3hlKkZgJQT4idqB/62X+E/GkGLxepAJYxOZtY5AAbCBppVH3s9f0q16BSVz7LfreLqJj0w5PL41cmDPgKY2nBqw2RyNdD6ZzrFy4Dq3wq5MOu5E/8UUbJphwT2cxWJH4GHu3BPvBSE3/AIzC/Oq417EsWIgGwFEWzW94d9kuKaO2uWrPhmzN8Bp861HDfsowya3Hv3iP4cttD4TBPwIq9A8kfIA5o7A8FxF8/hWLlz+W2xHqYgV984X7M4O2xW1Ysh1jNI7RxO0ltpim2LYooyKbneUMqlVCKT3njwGsVTkicn7I+KYX2GxVi3dv4gC1bt2rjEZwWkKSoyCRqwFZe3jBM5UJ6xlPlKkVuvtF4zjXuXsOqhcKYClEJa6uhDFjJiRy6V87sYUl0UkDM6rrEjMwE+kmkSqXRoxyaWzQ4bjRUd1rluBAytmUA76HX4Gu4niHbLDXhdAIIS6zJqNjOtI+J4Y2rty3rCOy5uuUlZ+VAZtTJHqKUsSW6HPLfufROFcdZCSLAuKpLKQFcqciqsAmRqutW4ziGHxam1iLBtHN3ZNyyCWElssxqREiY518/s4mNZ16qdaI/wAZfYnMOjqGHzpbwq7G/Wpbo2nBvs0w1+5Fu/ct7kEG2/LqApB+O1OOOexNyxZnCYt7ly0fxQz5pA70dmZCmI056189wXGgpBFq2COaMyfIHWmHDuO9kzPau3rTP7xhbitrOsiTr1NNbmo0jKoJyv2HWOx+Lwly5DZ0jO91VlUDIR2YOixqO7qZE1im444YkN3ZzAEAgHaYI3o/j+Pe8ozYjtRJARVy+8SzZhrzNIBhy20epAHlrQwi2vu2w50ncRzhuKl1KrbRyCGAPc12JkeFWPxN1ZiVcQJhWzlthPmBWaxOHZdGkcxrofEEVKznywrEEazPKCTv5U+EVFULlJs2B4omQXGvNmdklLiAazAJkRoYG43phc4jYughuzzMQx7MQ25BGsgLryB86+f/AH26RlYhlO4IBptgscvYi2Ldu2QQTcljcaJGRTPdTUGOtBmgpLReObjKzWcPtq9xyuGtwykZScyrpJZW0giJ1p59lVwHGnKiBOxc5hE5s4XJvpoAdRzrK2MBf+7C+utuck6EgnlpBimv2e4wYG+btxS4ZGSbclpZ0juz4Has2FqL2w88XLaQ69uOP2rWOVDdNq5byOpyystbA1InkIiKV8dxV7F2kR7i38o7RVBRQFEjOMurnukRU/aL2xwz4q69zC920oXNct/iwYQlZjmes6nY0Lwd+GWw9+3cuNlUgWXYwpMDuMeYzSRJ50WTJKPSKxY0+2ZXAcDV7yJefsbbGDdfLkTfWSQOlbE+z2GwgynE2LyXkdQ6gObZEENKvCk7TWK4hxC9ZxVx8zK4MHMAeXuwZB8qvw19cSxN97GH0ntAjKWI2BVTBOp5CinuBUeUcn6FNrh4VgVJhhM6iNY571czFlOQlgJBzeHIDmao4ti9LYU905gFAIXutAIHQjX1pPfx72gcpjNIIj9x50z0qV8p/sM9TKvtiQxuKJ0SOjaifKqO0fqflQQbrXf3tWhuzHRfhb6g96fT+1EllMlbgMawd/hSuvO5G1WpVog0s4yfeMeY3r6H7F/aXYwWCSyyvcuAtpPdALGADqdfIV8lmakKn1GRxTPt/FftwtLphMIzH+O6wQeeVZJ+VY/iX2vcSuiFuW7I/wDqt974uWNYGvChIlR9T9hvtNvK628QyZiVBvOGJuKugRoOjRs3jr47Li3tZirdpwsAudGuqiwDAyohMnSdT8K/PVbj2duM9gZmJOozSc0AwBm3+dKlHdoNGm4T7Qi0ri4r3MxBC6wIVVks+s90+FZX2h9oiXDInZ94ZYIcADWT3dDOu+0VDGXSHKgwsTFK7TFiZ1qo41y5fJbm6or/AMTuXWYlySxJJ0EzrOxqq2ueZYA7azrVt5ABoI2oe2fe9aaCWrZPjp0iP0musT1/frVeG0XTT1ou0Z31oQihbxHKr1xnX9/D+1QxKAbVSRVOCLUmgl7/AEPz/wDyt/8AYuofGMHVWHZto4B6RlB5/Sa+akVvvsYb/wDvX+Vuh/LVwVFSlYf9tWBt2sTaKWlQMkkqIzNmInTTQAfGsEgzkQfDlzB6coJr6X9u9oC/hyBqUefGGEV8pI0bzH1qMuPQQMIQYDKY8Y/WibOEYkBgVBPvHb5V3FWwtq2VGrCSdyfU7V7Ca0mTY6KRp8JeVQLS3GyxJnaZ3ivX+5rM7EHoQdxA0obgVhWzkjUAEanr4U2w1oFCSNcyieeoef0FYpRpmpz+3oTX1tnvPJZjGhPeJkyeu060HxnhYFru90FpABIUnnA2OhM0Zxk5WSP4vPkRz86LwdsXHh+8AtwAdO9yimcmmhaSkmZNrSyWcszzsfdHj4mqlsMzQoJJ/ck8hTE2wueORMb6a+NMeFWhlXTffxp8ptCYwTdELPDWY2rYBZhIUL7xJiQs+VZnihyZtBIYiCP80a1pvae4Vt93SdDoNiDO9ZTiI/C9F+lM9O7TYOfToDt4sEHMi6dDE137yn/jP9X/ABS5d6My06zOf//Z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6" name="AutoShape 8" descr="data:image/jpeg;base64,/9j/4AAQSkZJRgABAQAAAQABAAD/2wCEAAkGBxQTEhUUEhQWFRUWGRgYFxUVFxYYFRUcGBgXFhcVGBcYHCggGBolHBQYITEhJSkrLi4uFx8zODMsNygtLisBCgoKDg0OGxAQGywlHyQsLCwsLCwsLCwsLCwsLCwsLCwsLCwsLCwsLCwsLCwsLCwsLCwsLCwsLCwsLCwsLCwsLP/AABEIALsA+QMBIgACEQEDEQH/xAAcAAACAwEBAQEAAAAAAAAAAAAEBQIDBgEABwj/xABBEAACAQIEAwUFBgQFAwUBAAABAhEAAwQSITEFQVETImFxgQYykaHBBxQjQrHwUnKS0RVigrLhFjNTNENUY/Ek/8QAGgEAAgMBAQAAAAAAAAAAAAAAAgMAAQQFBv/EACsRAAICAgIBAwMEAgMAAAAAAAABAhEDIRIxMgRBURMicWGBkeEUwQXR8P/aAAwDAQACEQMRAD8AwM16a8a5W8AlNezVGuVCic13NUJr01CFgNemoA12ahZViyY0JGh20pSrEGRp4inF1ZgbeO/yo3h3C7AIlWun/Ocq/wBC7+prn583Cbs1YsLmlQksY5pCkZidgvvH0508t8OuQC69mD/5O6f6TrWqxd3srINtVtLBns1C6c9V1NIcNlcgksoMySDmrNH/AJDJJOl/s0v0UI+TsrtYS2PeZnPRQFH9Rkn4CjbWIVNURLcfmMFv6mn5UNfw+YxbZlE6GBmI+lXvg0KjtACF2LeQpGTK5+Tb/wDfA/HBR8Ul+oPjsYQcz5nZtoEk89+Qo/AhZlwfADT5mpWLGYwCF035RpVuHtgNrqNduvKktqqQ3du3/AwXBC6pEsqzMKdxyUk8v7Uqx2HVBBgKugza+WsVocDhGdAM5Q6ElY1028qW8Yw66h4y7nNEbzrPnWbHP7qs0Tjq0v3EQuhgWQ5gJ25xyqGEuM0yhQaRO59IotGTKShUqJ1TUab7c6qwmJFwmFYAc2ET5VtXvoye6t/wcs4e5mk3O7PuAbjoatxXDkuEM6BiBAnb4VbaV9ZCr3tOpWP1muY7hy3YzM0Ae6p0MnnQ8vuWwlFU6V/kBxEIDsqr8BQCX1cnKSY8Ips9gBcsd0CNdt/GhHjYEachFNg1Qqad/wCjN3h3j5mqI79F3x3m8zQxHf8AT6V0I9HMl2w7CDu+tXRUMEO761eRWyHihTK4r0VOK9FEURqdcipxUIQZajVhqJFQhCa9XSK5UIcrorldFQh0VIV4CuirIRcU0wFnv5pPQCe6B5Uupvw+woefzHx5abDpXI9Z5s6PpUuKscYnFq1olWzZNwusaTHifClWJRo7oBOkZtv2KaW8Vba03ZCQm4VYkxsOu1AtnZZChGJ2czA6mOfhXOx6v8m/Juin7qzAAsVPMpz8PCmP3G2VHaAELsXI+fjVAwhdQpcqeZTSfDwp3bwFsoO0AIXbOfnrzqsmTrf8F44P4/kTYy+tuJkzsFEzA+VTc3AAbaBif4jAXTc9at4rjUsAFgxnRQi5idOXpVlx3ABS3nJ5ExGnM1N0nRH21Y5wGHd0AW52bfmKieWoHrzpfxPAAr2bzcHMtu2s6xTbhofKNQp/Nz5bD1oTi+GzgqxOvMaGskZ1k2x7ja0vYQ2cOiLlthVUTouw67c6uv2SrBW3KhgOUEwDXsNw9LKlUXKJJMncncmajZxlu4xVHVyBqAZgTG/Latj220IWq9iFt2k/hkANEk7jmwqvimCuuFFq72QHvELJPl0rg4uvbdiLdxiGys4XuLzknpReON4QLKod5LcvnV7UkC+Li02wB8J+GLbkv3QCx3bxoMYJU91Yn501v2Ha3DHK5GrLyPUUqwvDeymbj3Cebf2psJae/wBhc1ta/cz+KHfbzNBkd/0+lH4sfiN/MaCb3x5fSunHxRy5+TGOCHd9aviq8AO6fP6URlrbDxQl9sqivEVYVrkURRCKnFcNTqEKWqNTNQNUQ4a4a7UTUIcror1dFQhIVKoipirIdAp1w8J2hjLn59YpRbGtPeG3kN0oPfAkwunKO91ri+t83o6npK4oZLiM1tiqt3dgRlzHwnlQuVyJIVWnUTmAE6+ZijLV93Vz2TKVJCByPxNN9NhVRt3CmpVH6r3gBPjua5q0/bs3y389HFwpYAFmEGSV0nwPhWis4G2bX4gUhNs502idT4Vn7nCxdRUuM5GhJU5S2+8cq1eEwVrsYcKVQaZ+UADnSPUT0t+/wFFVbozvFsbbsAFzAOi5QSTtoAK9dusoBS2XJ5AgRpOs7UZxPFJags2WfdjnA2EVTfvlQCqO87BfKdelHF6Tr+QpdvYbYFwqOzyqxic2oXTXbczQ/E8Gz2jbe4QxEF7fdO/LpRVtrmQG2q5yRo50Uc9eZrmJtXGtwWCXDuyiQNeQ8qWm0712E1a6EWA4UllCilmBJJLmWJOh19K9hsBbt/8AbRVJ3ygSfPnRdvClVIa41wnmdCJEQANudUYPhyWiSgMkQSSSfnWjnd7/ALE8KrX9HfvtsNkLjNIGXnJ2ruNxPZwBbdyZ90befSi7dhQZyqCTvAk+M1cBqBMEz8t6DlG+i907Youl2t5lXK5EhW5HWAaVql6SbuWI0C6a+cU+x5yqzAZsoJgc/AaVnsNjblxjmsG0sSCTMnpsK04W2nSE5Gk1tmdxw/EfzNAv74phxAfiv5/Sgbh74/fKutDxRycnkxnw73T5/SiTVHDh3T5/SiSK3Q8UIfZWahVhFQIoiiNTqNSqEKCaiTXia5VEOGvV6vVCHqkBXK6KhCQFSFRFSFQhbZGvw/WtRw65LFcraaloheWgPM1mcMNfUfrWr4U7m4VNshABFwsO8eYA5Dxrhev82df0Xig+32jK34YVh7gZpzabmNqGezcKQzqrz7yrIAnYA+FH2VvFHzKiMdEglhtoW9aFOFudkFe73+dxFA+ANcyMt+x0Gvyet4HMoRmcxuQcrNuNY5U/yWVs/jZMiDe4RAAG8nwpMnDldAjs5AiTmyluWpEfCnX3K0yBbiKyqIAfUbRz30pOaSdK/wCC1F10KeMcTtWArXGyqxAWATM9I8KhicWEAbK75tgiydp16CmONZFiYH8Ok0FisWtsSZMmBlUknnyo4u60y5PvaCrV1xbVktlmMHITlKz1NdxK3Tb0CpcPI95Rr89KIw9zuqQrHNGkQRPMjlXcZmyE21BbkrGBvzPLSTSuVPr3C/6EOFw11UIvXBccz3gIgGYEeE1ThMHkMl3cxHeiPhReGW/kb7xkz5mIybAHYHx1r1meZB8q1cnsTxWtBFm1vGxien7mpuo5xPj86V3/AGdS7fW89y6ShBRMwyLEcomJFOnsgkMRqJj1MmlS4rphJOnqhdi2CqWJ0AknoBuaQHiNq4xVHzECdOlaXFWgFIju6yDtrv8ArSW9aUe6FHkB9K0YWqF5eSMZxIfiv5/SgLh76j986ZcVH4z+f0FLn99f31rt4/FHEyeTGnDtj50STQvD9j++VFVux+KEPsiagamagaMohU65UqhAImvVGa9NAQ7XajNdqyHakK5XHaAaqyFgroqK1IVdkC8GP1H61reDdqbhBVBaA7pnvlvHoKyvDxv5itnwYHMZiOQ51wP+Rf3M7XoV9qGFq1dKNna2GPuFQSF0/NJ1oNMI6Wwj3WdhvcgKW1OkbDl6U3Sy+RszjMdiFgLy2JoDGYYlcpd5mcwgN1jbTpXIhP2/X4Og4nbGFDAK0kDXeCfOKbDBoygMoIXbNrGlKcPggyC2S5Aj8xDHlqV3p19xtsoV1DBdg09IpeWX6lPSAeJXbaAFyqjkWj5UBexqWwGZoB28dJ5eFM+IW00DBPDMB05TS576W4LsqjlOnw9KZjqiMZW8SoQPDMDEZVLEz4DUVK7dm3nVGJ5Ie6x1jY7aV5MWiqHZu6YgjWZ2iKnexS9n2glljkDJ1jQb0r36LvfYoe4zAlrZQ8gSDOnhtrQODN4n8RUUR+ViTPrypneuhpgMI6gidJ0mgsPeZmg22QRMtG/TetcXp6QDq1suWzeLyLiKkju5CWjmJmBzonHYRnAy3Wt7zlAJb1O1VJduhoW0CsjvFwNOZiKKxhu6dkEO85yR5EQKW27XReqfYvvYWLXZszMCCCze8Z8qRW+FpbYlA0kRLMT8q0F9XKEMVVyG1WYBOxE60mXD3FM3LoYRsFj1kk1oxSdPYrJFWnRjuMD8Z/MfoKW3AMw/fWmvGx+O/mP9opXdXvL++td3F4r8HFy+T/Iy4fsfSijQuA5+lEmt2PxRml2RNRqRqNGUcNSqBNTmoQVF66DVF9wzt2Y7o8SdBALa67n5iuIpYbHmRo2sbxpyrNyDoMcEGDoelRBoW60btvyMz568qsW+ukMNSBMkb8zOwq1IlF1y8FEmqTig2ign6eJ8KFxV/NtoP3rRvC8ELpSWRQSUJL5SuoPaPA0QSBNBPJRajYMMRFznvEfKKIuY3Tujzmopw9jiDatFXaSqmRDawIZuukHTei8Zwe7bw4vHLkd8u4zSsct+dD9VdBLGxhwS5mDEiII03+gra8JVgxJIy8lC6j1nWsX7MEQ8CNV5z9K3nDbZmSfIQBH9643rpfczr+jX2obJbbIwZySdmCgFfLkfWgbmF7uUu5MznkBt5iQNqPSycpBdiTz7oK+UCqLmGlcuZjrMz3uu4+FcqMqN9foUW8IGAQloEfmIJ5akb04OER1CuuYAaAk9KX/dQ0AzoZGpGvKjjYVgAwMDbU/PrQZJX7gyjoHxuHVoDKpjaRMctJoMoNJAjlIEbcpo7E2FaJAMbTyod8MpgMqkDYETHlRwlosKsOFA1AGgB0A9OVdxOJULnLDKPzSI3jeo27YgCBA2ECKscADkB5ab0FKy/cWLfRwSjBgN4+MUDwziS3mdQjrkMAsCA4/iXwnSmOGxqXc3ZtORijQCIYbirEYHZp8Kf1aa/oHunZT96CtlyXCZjRHI85iI1om8xEALMzryEdakLqjQsJ6SAf1qy7cVfeYCZ3IHpS3XwX87ALslScsHWAflSy/JgFI6mR+lOrjqVzA5lgnTWY6Vn8DxdL4OVXQgsIcQdOfPTWn47autATq1vZi/aBYxD/6f9opPfHfT99ade0f/AKh/9P8AtFJb47y+f969Dh8F+Dh5vN/kY4Hn6UUaS4i6RzI0Ox56RNCl2icx/q108K1QyUqM8ls0VcIoezjBlEyTFT++L409SALMpqfZmq1xSnnHnU/vKfxCpyIZLOZ315USiMRIA18dwaFu2WEfSmWFVzBMlco5xrtWMYkUjhV1lZwrEKQC2pVZ2BPLbQVzE8KvIcrpkaBo0g66gwfCvo3sDjBbs3s+ISypdZRlR2buN3hnPLb1pV7a4u597Z7d+3cMIO0AXKRlHdgEgER1rHH1EnlcKGcEZXCYQwA/8Q56ZeY+NG/dlScogFWB56ypXflpVw4lffu3GtleiqAdNtaGv3eVaOcmqZfGK6BRhGMZY724OgHQDwo7GWGaZaPdjnMAA+W1RwxI5GBEnpO01LE36qTdlxSphfA7mVmAJIzDU8xX0nhRDa5j5aQK+UcLvA5iCDqK2HCOK5Tvr51z/W4nPaN3pMiiqN+bUqRJ157EUPctgCNfic2/Wllrja5TrI5mdqFxvF2Yhiw0iDIA0OmtcmGCdm95Eh7bUNpJ08SD6nnRpw4IEzptqR9ayC8ZC9644A6lon1507TiyFRJ05GfrzqsmGaJzUkHYrDqd+XjQj5W0IkDbXwoPG8RDenj5f2pPcxmonSPGKPHgbWyPIka63YUgAgQOVWth1y5YGXpy3/vWcw3FxAB/X61ff42ir3jA01J8etA8E7L5Luxg6JbByqqzJOUAAnrpQlq6gOgUHqAB8xSrFY7TTbzoXD4gA6fr9JrQsLp2wPqLSRrrSqTMLPkJoqBzis/hsSNzM+Zo44oH08azSxuxl2E4hwBM6daRcQxgP5gfWisXd0iNNRWZx90KdBEaVp9PjsXlnRnOPNN9j5foKUXwcy+dMeJPNwny/Sl986r513seopHFybk2dvW5ZQeZjTxoO6FGgJkEg6aQNtedHX3grrHen4VXxThj2XXtQF7RRdXUTkYnKTG0wSAelOj0JkU27rZdADHgT4cqtclTDdJ/YqkXVUZhJ67RuajdxBcyYGkCKZegKLXuydBG20nYan1Mmvdp4H4Gh13BzGivvKdT8KnIugWzdGnvAeG9HhMxzSNRsRHLpypc2DYc1+Jo63ZTQl2DZRPT9KVIKIywIygzBMdDB18KC4paDaMwXXfkdNhJplw2yMsB5EaGN/0oHi9pQYdysMYK/s0vlY1xdAOEwqBiy3FY5SIET571GwgWACDrvrPyNWYa1b1y3J0bSAPMzFQsoAQAZ16bbUSAXQwwNq4UdlVuzEZzyE7T1oi1wi41trn5AQCSDEnah8HfuBGC+7+YT18OdGriSIQsezIUkKdJOhJ030FBfdhVfQF9xI2I9JFWi24OjDpV9/J2iC3mIO5YAc4EdaecMZWuhXQlCrCQNJVC2/Wo5R42Wk7pCW2bokM2/Lr8qKw+NdIyxI1BImPSYpl7TYW0pt9mWMgzqTBhYHzNKVUZCYOh3hiaSnGStIam12cuXmKlWylT1X6zpU7WJZVC6EDaS2nzoZHU/mPrpPxFFJZBVjrIjUH6VGkiKTskuPuZlY5WymQGEr6g71e+LVwe0QltwVfKB/pymgAh6/IUdgcIHzSTIUkQBy6zVSjFKy1JsG+9ONoI6GT9Kt4dwu9jHFpI0BOphVHU6a6kD1qhkbw+f8AejOCcYvYS4bloWySuU5gSIkHTXQ6VU4vi+C2C5NhF7gGMsNcQW5W3lLEQV1UMCNidDrA09K5iPZvGWRn7MbqulxDq4BWAPOPP40Vc9vcTdZibVmQ2kZhlIBUH/NuDrzAqWO9rLzgB7SMpa1dCgj3bfcCE5ZMm3JPptWdf5HukS38lH+HY8OiGwAxEgllCnSYzExOu017FJjQHzWYFqS5DiBCgnUEg91wdKu/65d7ttxZKtaYZuzfLnGQLkbTVcyhvlXuG+2sK9u/Ze+Wzl8zjvZ8mRZ3ygLr51XHN24otZH8ike0V4JkFtY11LEnUz08aShmHM+pmjb13MzHIRJJgbCTMDXYbVQZ/h+JArbGMY9IGUpS7YLrzqq+NV86LtjcnTUeO+1V4m3JSObR86YmC1aK7tgMRPKrLlkGMxZoAUZ2JgDZRJ0HhRNzBkuog6gn4Vd9xjlQfUSDWFszWKRZI+WvwqIEMJ00+FS4heK3XG0NFV5yWBJ161oT0ZmqZ1Tof06/2qOTwH79atuZAgKFs/5wYiRtlj61P/ErnU/0rVWQHus3OR4UUjpALjWAJnw6VoeL8FuJeS1bsjM2gcZshJIAIk5QDI3pdxjh+Ityly3bOUEFwqa5SZIbn6UMMkZq0HPFKD2X8OcdmMhIGvODvVHFimUdpJEmInp4Vbw27IjQCAYonEYRXSSobLJienOlXUh1XEUYUIZylgIMAkxrEwCPKreHYR7jKlq21xiRoiF28+6JrmD7FzKCDB8o0mt99lPELOFxTNeuC0pt5VzAw5JEAQPCnJ2xFUjGvwq9bLC4jW2UDMlxWV4OxAImK3PCeBG6ixbnujZfDypf9pONTEY17uHu51NtBADHRZBIAGijqeZNfQPs/uZUAYrOVdCxQ85lZis2eLtbH4pfbZjOJcCVDBtgHyik93ABdQGB6gsD8jX1P2huK10510gjcHTw6GsdxZLaKMxgwJmssJy5OPwOpNXVGVuT+ZmP8xJjymmVjBzhbrie6ybCd5/tS/FYhORnyBp5wf2jsLgb9lg3asQUgGNNiTyinSUmlQt0jK4fbXx3HjTnA4INYvN/Dk+ZikQxA0+Pzrdeyl/DtgsT2l1EYKNGYAmNRAO9Fm5Ja+QYNGMZIO5pz7M22N0jQyj9R+Umk1+4CSfHStR9ndjtcQFBEgNp1GUg/rUzX9NskezOvPMfCqWPgaZcdsdlea3/AAmDQaGaZB6slbF2CYTc/moizeDE6+73dfNjp/VXeH29bni5rvDrILXf56JlFOEHfueYrthPxn/lWrsHhxnu6cxFSsYOLzkqQpUQdYMRMfEVG6BrRd2dU3cJJPiI+dMFwo8fiaOOAXqfjWeeTiOxw5Get4aJnqD8KjioDW4H5xp/qp23D9Tq29KcRh2bszrPaFeX5bmUcquM1IZLHxQ7tYkTqBz/AFqF0A8qJt8LafeceWX6irsVgSsADEMWBjKgZhEd73dRrtWZO5VE2dK5HzbjNpO3cyZzHl00peDroPL+1aDFFkvOlxMxmQLqDMQwBGgHMNNP8Otm3ZR8PbRrrAhyFnsjsAJ8wZroPK4JJo5q9OpttM+fXrUHx+NVZj4/CtP/AIZdOZmUkjbunvk7xAii/wDpnGf/ABbn9H/NM+pD3aEvDP4LuGY438yiytyVjNnZSnUr3oB9KWe0aFnUMT+GgRQ7g5VXZV0GmtZ0XCNiR6moSKuMIoCWSUuwpbxB/sasONeIDTPI0AboFSe5sKPQNsOscSK/lGxEDTfyrd/Zxxm2uJU3ms2wEIBuqziTEAAEd7pXzZX8KdcJdZtlgogqZkyIMyetDVO0Embv2vxn3vGZ8G4v5bQUm1aa3ChnLACdQAwJJ6+FFcNvgiSzKcoAyGBOUakE8+dZDA40J3rN17TEENmDDQzpoNiK5bLz3Lgb+Vx+hIrLlxym9mnHKMUb3BksZa6yiNYKc9mlhsKAx3DRcLw1pokhnslC3kyman7L8QtKTaxdvu3gy52YCFymY6ydJonGcOwC4tLq3GCQZtqUyARlDQNV1/MZFZYanUrNMk5dIzt3hNxULNAGkKt15MmNRrljQmeRoS7wpogDMWG+ZGaeQ1ymNpHnWzwHsvevAsmICEuzKG3yk6JEFYAnUAb0m9oLeKwV1DcKPZzqnagANMSdA2h330rRGUW6UtinGtNGdt8McKCLbxBBbsnYAywADISDMfrVXYsImF00zIVVR1OZdB461o+EcXOHvW7twtmcv2aBAV0jvOAdW7+lOcXxKywzNcFtSSGzyitqSV74Ay67TVuWS6VP9xTjq0j56iExMHXZSsk9NTtNX4fE3LLFrQuoyn/uD8nIiRI12mtm2ES5ZhDYvE90kqGIWDqGUnva6HlFC2/ZeyJk3MscjGXcSRoDyFG5ZF5RYKjGS7Mn2zs35yzamSGY856kaSTRGBZjvFawexrFTfs3nEK2gbMyiCuXWWAKht+XxpDc4Mcw7G4pRjkU3QEOYKCwMNG8x1oXk9noKCXsVYG2wLyIlpHlUuHoc1yQR3tJ5+IqVnh94rnAQrEytwdSsc4MjarcNhrxZkFu5mUEsvdkBRJ94jlVctaDpFGE/wC5d8CKM0lRO2fTmJNuhXxsEjvTzlG+lct41QZ7k7HXKfLWqb5AtJDW0lXM0GhcNjJ2WfIg/pWg9g8VZu402biK4a2/dYTBENtyMTS+DnKilk4K0LbF9Z1oHiBS2LUHa4XJO2t5X+WtN/bfhtz77kwyW0W4EW3qNSLYZgF/L60s417OXMNhkvXyJuZcstmOsNtsNOlRYPuY7/KTivktxvtSo90Fuje6n9R39Kv4Xxq4xDi/dTKY/CC5ApksCzBtdBvvWabiiuu5P+VjoDESfjRmG46Uwv3dTKlsxUBQmg3JHeJ8NqkMah0tjMmTmlexBxhbmKxWmZ7hYLmJktACrAGxgbCjUZ7KhVTMJGYloYHbVCJA03IqjCXZuZlyyCIZQQVMRpB0rZ4b2ovC0Udbbk/+5cTNdHTvSBy5iKdJ3piYRa3Egl5rRGGxUouQ3hlKkZgJQT4idqB/62X+E/GkGLxepAJYxOZtY5AAbCBppVH3s9f0q16BSVz7LfreLqJj0w5PL41cmDPgKY2nBqw2RyNdD6ZzrFy4Dq3wq5MOu5E/8UUbJphwT2cxWJH4GHu3BPvBSE3/AIzC/Oq417EsWIgGwFEWzW94d9kuKaO2uWrPhmzN8Bp861HDfsowya3Hv3iP4cttD4TBPwIq9A8kfIA5o7A8FxF8/hWLlz+W2xHqYgV984X7M4O2xW1Ysh1jNI7RxO0ltpim2LYooyKbneUMqlVCKT3njwGsVTkicn7I+KYX2GxVi3dv4gC1bt2rjEZwWkKSoyCRqwFZe3jBM5UJ6xlPlKkVuvtF4zjXuXsOqhcKYClEJa6uhDFjJiRy6V87sYUl0UkDM6rrEjMwE+kmkSqXRoxyaWzQ4bjRUd1rluBAytmUA76HX4Gu4niHbLDXhdAIIS6zJqNjOtI+J4Y2rty3rCOy5uuUlZ+VAZtTJHqKUsSW6HPLfufROFcdZCSLAuKpLKQFcqciqsAmRqutW4ziGHxam1iLBtHN3ZNyyCWElssxqREiY518/s4mNZ16qdaI/wAZfYnMOjqGHzpbwq7G/Wpbo2nBvs0w1+5Fu/ct7kEG2/LqApB+O1OOOexNyxZnCYt7ly0fxQz5pA70dmZCmI056189wXGgpBFq2COaMyfIHWmHDuO9kzPau3rTP7xhbitrOsiTr1NNbmo0jKoJyv2HWOx+Lwly5DZ0jO91VlUDIR2YOixqO7qZE1im444YkN3ZzAEAgHaYI3o/j+Pe8ozYjtRJARVy+8SzZhrzNIBhy20epAHlrQwi2vu2w50ncRzhuKl1KrbRyCGAPc12JkeFWPxN1ZiVcQJhWzlthPmBWaxOHZdGkcxrofEEVKznywrEEazPKCTv5U+EVFULlJs2B4omQXGvNmdklLiAazAJkRoYG43phc4jYughuzzMQx7MQ25BGsgLryB86+f/AH26RlYhlO4IBptgscvYi2Ldu2QQTcljcaJGRTPdTUGOtBmgpLReObjKzWcPtq9xyuGtwykZScyrpJZW0giJ1p59lVwHGnKiBOxc5hE5s4XJvpoAdRzrK2MBf+7C+utuck6EgnlpBimv2e4wYG+btxS4ZGSbclpZ0juz4Has2FqL2w88XLaQ69uOP2rWOVDdNq5byOpyystbA1InkIiKV8dxV7F2kR7i38o7RVBRQFEjOMurnukRU/aL2xwz4q69zC920oXNct/iwYQlZjmes6nY0Lwd+GWw9+3cuNlUgWXYwpMDuMeYzSRJ50WTJKPSKxY0+2ZXAcDV7yJefsbbGDdfLkTfWSQOlbE+z2GwgynE2LyXkdQ6gObZEENKvCk7TWK4hxC9ZxVx8zK4MHMAeXuwZB8qvw19cSxN97GH0ntAjKWI2BVTBOp5CinuBUeUcn6FNrh4VgVJhhM6iNY571czFlOQlgJBzeHIDmao4ti9LYU905gFAIXutAIHQjX1pPfx72gcpjNIIj9x50z0qV8p/sM9TKvtiQxuKJ0SOjaifKqO0fqflQQbrXf3tWhuzHRfhb6g96fT+1EllMlbgMawd/hSuvO5G1WpVog0s4yfeMeY3r6H7F/aXYwWCSyyvcuAtpPdALGADqdfIV8lmakKn1GRxTPt/FftwtLphMIzH+O6wQeeVZJ+VY/iX2vcSuiFuW7I/wDqt974uWNYGvChIlR9T9hvtNvK628QyZiVBvOGJuKugRoOjRs3jr47Li3tZirdpwsAudGuqiwDAyohMnSdT8K/PVbj2duM9gZmJOozSc0AwBm3+dKlHdoNGm4T7Qi0ri4r3MxBC6wIVVks+s90+FZX2h9oiXDInZ94ZYIcADWT3dDOu+0VDGXSHKgwsTFK7TFiZ1qo41y5fJbm6or/AMTuXWYlySxJJ0EzrOxqq2ueZYA7azrVt5ABoI2oe2fe9aaCWrZPjp0iP0musT1/frVeG0XTT1ou0Z31oQihbxHKr1xnX9/D+1QxKAbVSRVOCLUmgl7/AEPz/wDyt/8AYuofGMHVWHZto4B6RlB5/Sa+akVvvsYb/wDvX+Vuh/LVwVFSlYf9tWBt2sTaKWlQMkkqIzNmInTTQAfGsEgzkQfDlzB6coJr6X9u9oC/hyBqUefGGEV8pI0bzH1qMuPQQMIQYDKY8Y/WibOEYkBgVBPvHb5V3FWwtq2VGrCSdyfU7V7Ca0mTY6KRp8JeVQLS3GyxJnaZ3ivX+5rM7EHoQdxA0obgVhWzkjUAEanr4U2w1oFCSNcyieeoef0FYpRpmpz+3oTX1tnvPJZjGhPeJkyeu060HxnhYFru90FpABIUnnA2OhM0Zxk5WSP4vPkRz86LwdsXHh+8AtwAdO9yimcmmhaSkmZNrSyWcszzsfdHj4mqlsMzQoJJ/ck8hTE2wueORMb6a+NMeFWhlXTffxp8ptCYwTdELPDWY2rYBZhIUL7xJiQs+VZnihyZtBIYiCP80a1pvae4Vt93SdDoNiDO9ZTiI/C9F+lM9O7TYOfToDt4sEHMi6dDE137yn/jP9X/ABS5d6My06zOf//Z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7" name="AutoShape 10" descr="data:image/jpeg;base64,/9j/4AAQSkZJRgABAQAAAQABAAD/2wCEAAkGBxQTEhUUEhQWFRUWGRgYFxUVFxYYFRUcGBgXFhcVGBcYHCggGBolHBQYITEhJSkrLi4uFx8zODMsNygtLisBCgoKDg0OGxAQGywlHyQsLCwsLCwsLCwsLCwsLCwsLCwsLCwsLCwsLCwsLCwsLCwsLCwsLCwsLCwsLCwsLCwsLP/AABEIALsA+QMBIgACEQEDEQH/xAAcAAACAwEBAQEAAAAAAAAAAAAEBQIDBgEABwj/xABBEAACAQIEAwUFBgQFAwUBAAABAhEAAwQSITEFQVETImFxgQYykaHBBxQjQrHwUnKS0RVigrLhFjNTNENUY/Ek/8QAGgEAAgMBAQAAAAAAAAAAAAAAAgMAAQQFBv/EACsRAAICAgIBAwMEAgMAAAAAAAABAhEDIRIxMgRBURMicWGBkeEUwQXR8P/aAAwDAQACEQMRAD8AwM16a8a5W8AlNezVGuVCic13NUJr01CFgNemoA12ahZViyY0JGh20pSrEGRp4inF1ZgbeO/yo3h3C7AIlWun/Ocq/wBC7+prn583Cbs1YsLmlQksY5pCkZidgvvH0508t8OuQC69mD/5O6f6TrWqxd3srINtVtLBns1C6c9V1NIcNlcgksoMySDmrNH/AJDJJOl/s0v0UI+TsrtYS2PeZnPRQFH9Rkn4CjbWIVNURLcfmMFv6mn5UNfw+YxbZlE6GBmI+lXvg0KjtACF2LeQpGTK5+Tb/wDfA/HBR8Ul+oPjsYQcz5nZtoEk89+Qo/AhZlwfADT5mpWLGYwCF035RpVuHtgNrqNduvKktqqQ3du3/AwXBC6pEsqzMKdxyUk8v7Uqx2HVBBgKugza+WsVocDhGdAM5Q6ElY1028qW8Yw66h4y7nNEbzrPnWbHP7qs0Tjq0v3EQuhgWQ5gJ25xyqGEuM0yhQaRO59IotGTKShUqJ1TUab7c6qwmJFwmFYAc2ET5VtXvoye6t/wcs4e5mk3O7PuAbjoatxXDkuEM6BiBAnb4VbaV9ZCr3tOpWP1muY7hy3YzM0Ae6p0MnnQ8vuWwlFU6V/kBxEIDsqr8BQCX1cnKSY8Ips9gBcsd0CNdt/GhHjYEachFNg1Qqad/wCjN3h3j5mqI79F3x3m8zQxHf8AT6V0I9HMl2w7CDu+tXRUMEO761eRWyHihTK4r0VOK9FEURqdcipxUIQZajVhqJFQhCa9XSK5UIcrorldFQh0VIV4CuirIRcU0wFnv5pPQCe6B5Uupvw+woefzHx5abDpXI9Z5s6PpUuKscYnFq1olWzZNwusaTHifClWJRo7oBOkZtv2KaW8Vba03ZCQm4VYkxsOu1AtnZZChGJ2czA6mOfhXOx6v8m/Juin7qzAAsVPMpz8PCmP3G2VHaAELsXI+fjVAwhdQpcqeZTSfDwp3bwFsoO0AIXbOfnrzqsmTrf8F44P4/kTYy+tuJkzsFEzA+VTc3AAbaBif4jAXTc9at4rjUsAFgxnRQi5idOXpVlx3ABS3nJ5ExGnM1N0nRH21Y5wGHd0AW52bfmKieWoHrzpfxPAAr2bzcHMtu2s6xTbhofKNQp/Nz5bD1oTi+GzgqxOvMaGskZ1k2x7ja0vYQ2cOiLlthVUTouw67c6uv2SrBW3KhgOUEwDXsNw9LKlUXKJJMncncmajZxlu4xVHVyBqAZgTG/Latj220IWq9iFt2k/hkANEk7jmwqvimCuuFFq72QHvELJPl0rg4uvbdiLdxiGys4XuLzknpReON4QLKod5LcvnV7UkC+Li02wB8J+GLbkv3QCx3bxoMYJU91Yn501v2Ha3DHK5GrLyPUUqwvDeymbj3Cebf2psJae/wBhc1ta/cz+KHfbzNBkd/0+lH4sfiN/MaCb3x5fSunHxRy5+TGOCHd9aviq8AO6fP6URlrbDxQl9sqivEVYVrkURRCKnFcNTqEKWqNTNQNUQ4a4a7UTUIcror1dFQhIVKoipirIdAp1w8J2hjLn59YpRbGtPeG3kN0oPfAkwunKO91ri+t83o6npK4oZLiM1tiqt3dgRlzHwnlQuVyJIVWnUTmAE6+ZijLV93Vz2TKVJCByPxNN9NhVRt3CmpVH6r3gBPjua5q0/bs3y389HFwpYAFmEGSV0nwPhWis4G2bX4gUhNs502idT4Vn7nCxdRUuM5GhJU5S2+8cq1eEwVrsYcKVQaZ+UADnSPUT0t+/wFFVbozvFsbbsAFzAOi5QSTtoAK9dusoBS2XJ5AgRpOs7UZxPFJags2WfdjnA2EVTfvlQCqO87BfKdelHF6Tr+QpdvYbYFwqOzyqxic2oXTXbczQ/E8Gz2jbe4QxEF7fdO/LpRVtrmQG2q5yRo50Uc9eZrmJtXGtwWCXDuyiQNeQ8qWm0712E1a6EWA4UllCilmBJJLmWJOh19K9hsBbt/8AbRVJ3ygSfPnRdvClVIa41wnmdCJEQANudUYPhyWiSgMkQSSSfnWjnd7/ALE8KrX9HfvtsNkLjNIGXnJ2ruNxPZwBbdyZ90befSi7dhQZyqCTvAk+M1cBqBMEz8t6DlG+i907Youl2t5lXK5EhW5HWAaVql6SbuWI0C6a+cU+x5yqzAZsoJgc/AaVnsNjblxjmsG0sSCTMnpsK04W2nSE5Gk1tmdxw/EfzNAv74phxAfiv5/Sgbh74/fKutDxRycnkxnw73T5/SiTVHDh3T5/SiSK3Q8UIfZWahVhFQIoiiNTqNSqEKCaiTXia5VEOGvV6vVCHqkBXK6KhCQFSFRFSFQhbZGvw/WtRw65LFcraaloheWgPM1mcMNfUfrWr4U7m4VNshABFwsO8eYA5Dxrhev82df0Xig+32jK34YVh7gZpzabmNqGezcKQzqrz7yrIAnYA+FH2VvFHzKiMdEglhtoW9aFOFudkFe73+dxFA+ANcyMt+x0Gvyet4HMoRmcxuQcrNuNY5U/yWVs/jZMiDe4RAAG8nwpMnDldAjs5AiTmyluWpEfCnX3K0yBbiKyqIAfUbRz30pOaSdK/wCC1F10KeMcTtWArXGyqxAWATM9I8KhicWEAbK75tgiydp16CmONZFiYH8Ok0FisWtsSZMmBlUknnyo4u60y5PvaCrV1xbVktlmMHITlKz1NdxK3Tb0CpcPI95Rr89KIw9zuqQrHNGkQRPMjlXcZmyE21BbkrGBvzPLSTSuVPr3C/6EOFw11UIvXBccz3gIgGYEeE1ThMHkMl3cxHeiPhReGW/kb7xkz5mIybAHYHx1r1meZB8q1cnsTxWtBFm1vGxien7mpuo5xPj86V3/AGdS7fW89y6ShBRMwyLEcomJFOnsgkMRqJj1MmlS4rphJOnqhdi2CqWJ0AknoBuaQHiNq4xVHzECdOlaXFWgFIju6yDtrv8ArSW9aUe6FHkB9K0YWqF5eSMZxIfiv5/SgLh76j986ZcVH4z+f0FLn99f31rt4/FHEyeTGnDtj50STQvD9j++VFVux+KEPsiagamagaMohU65UqhAImvVGa9NAQ7XajNdqyHakK5XHaAaqyFgroqK1IVdkC8GP1H61reDdqbhBVBaA7pnvlvHoKyvDxv5itnwYHMZiOQ51wP+Rf3M7XoV9qGFq1dKNna2GPuFQSF0/NJ1oNMI6Wwj3WdhvcgKW1OkbDl6U3Sy+RszjMdiFgLy2JoDGYYlcpd5mcwgN1jbTpXIhP2/X4Og4nbGFDAK0kDXeCfOKbDBoygMoIXbNrGlKcPggyC2S5Aj8xDHlqV3p19xtsoV1DBdg09IpeWX6lPSAeJXbaAFyqjkWj5UBexqWwGZoB28dJ5eFM+IW00DBPDMB05TS576W4LsqjlOnw9KZjqiMZW8SoQPDMDEZVLEz4DUVK7dm3nVGJ5Ie6x1jY7aV5MWiqHZu6YgjWZ2iKnexS9n2glljkDJ1jQb0r36LvfYoe4zAlrZQ8gSDOnhtrQODN4n8RUUR+ViTPrypneuhpgMI6gidJ0mgsPeZmg22QRMtG/TetcXp6QDq1suWzeLyLiKkju5CWjmJmBzonHYRnAy3Wt7zlAJb1O1VJduhoW0CsjvFwNOZiKKxhu6dkEO85yR5EQKW27XReqfYvvYWLXZszMCCCze8Z8qRW+FpbYlA0kRLMT8q0F9XKEMVVyG1WYBOxE60mXD3FM3LoYRsFj1kk1oxSdPYrJFWnRjuMD8Z/MfoKW3AMw/fWmvGx+O/mP9opXdXvL++td3F4r8HFy+T/Iy4fsfSijQuA5+lEmt2PxRml2RNRqRqNGUcNSqBNTmoQVF66DVF9wzt2Y7o8SdBALa67n5iuIpYbHmRo2sbxpyrNyDoMcEGDoelRBoW60btvyMz568qsW+ukMNSBMkb8zOwq1IlF1y8FEmqTig2ign6eJ8KFxV/NtoP3rRvC8ELpSWRQSUJL5SuoPaPA0QSBNBPJRajYMMRFznvEfKKIuY3Tujzmopw9jiDatFXaSqmRDawIZuukHTei8Zwe7bw4vHLkd8u4zSsct+dD9VdBLGxhwS5mDEiII03+gra8JVgxJIy8lC6j1nWsX7MEQ8CNV5z9K3nDbZmSfIQBH9643rpfczr+jX2obJbbIwZySdmCgFfLkfWgbmF7uUu5MznkBt5iQNqPSycpBdiTz7oK+UCqLmGlcuZjrMz3uu4+FcqMqN9foUW8IGAQloEfmIJ5akb04OER1CuuYAaAk9KX/dQ0AzoZGpGvKjjYVgAwMDbU/PrQZJX7gyjoHxuHVoDKpjaRMctJoMoNJAjlIEbcpo7E2FaJAMbTyod8MpgMqkDYETHlRwlosKsOFA1AGgB0A9OVdxOJULnLDKPzSI3jeo27YgCBA2ECKscADkB5ab0FKy/cWLfRwSjBgN4+MUDwziS3mdQjrkMAsCA4/iXwnSmOGxqXc3ZtORijQCIYbirEYHZp8Kf1aa/oHunZT96CtlyXCZjRHI85iI1om8xEALMzryEdakLqjQsJ6SAf1qy7cVfeYCZ3IHpS3XwX87ALslScsHWAflSy/JgFI6mR+lOrjqVzA5lgnTWY6Vn8DxdL4OVXQgsIcQdOfPTWn47autATq1vZi/aBYxD/6f9opPfHfT99ade0f/AKh/9P8AtFJb47y+f969Dh8F+Dh5vN/kY4Hn6UUaS4i6RzI0Ox56RNCl2icx/q108K1QyUqM8ls0VcIoezjBlEyTFT++L409SALMpqfZmq1xSnnHnU/vKfxCpyIZLOZ315USiMRIA18dwaFu2WEfSmWFVzBMlco5xrtWMYkUjhV1lZwrEKQC2pVZ2BPLbQVzE8KvIcrpkaBo0g66gwfCvo3sDjBbs3s+ISypdZRlR2buN3hnPLb1pV7a4u597Z7d+3cMIO0AXKRlHdgEgER1rHH1EnlcKGcEZXCYQwA/8Q56ZeY+NG/dlScogFWB56ypXflpVw4lffu3GtleiqAdNtaGv3eVaOcmqZfGK6BRhGMZY724OgHQDwo7GWGaZaPdjnMAA+W1RwxI5GBEnpO01LE36qTdlxSphfA7mVmAJIzDU8xX0nhRDa5j5aQK+UcLvA5iCDqK2HCOK5Tvr51z/W4nPaN3pMiiqN+bUqRJ157EUPctgCNfic2/Wllrja5TrI5mdqFxvF2Yhiw0iDIA0OmtcmGCdm95Eh7bUNpJ08SD6nnRpw4IEzptqR9ayC8ZC9644A6lon1507TiyFRJ05GfrzqsmGaJzUkHYrDqd+XjQj5W0IkDbXwoPG8RDenj5f2pPcxmonSPGKPHgbWyPIka63YUgAgQOVWth1y5YGXpy3/vWcw3FxAB/X61ff42ir3jA01J8etA8E7L5Luxg6JbByqqzJOUAAnrpQlq6gOgUHqAB8xSrFY7TTbzoXD4gA6fr9JrQsLp2wPqLSRrrSqTMLPkJoqBzis/hsSNzM+Zo44oH08azSxuxl2E4hwBM6daRcQxgP5gfWisXd0iNNRWZx90KdBEaVp9PjsXlnRnOPNN9j5foKUXwcy+dMeJPNwny/Sl986r513seopHFybk2dvW5ZQeZjTxoO6FGgJkEg6aQNtedHX3grrHen4VXxThj2XXtQF7RRdXUTkYnKTG0wSAelOj0JkU27rZdADHgT4cqtclTDdJ/YqkXVUZhJ67RuajdxBcyYGkCKZegKLXuydBG20nYan1Mmvdp4H4Gh13BzGivvKdT8KnIugWzdGnvAeG9HhMxzSNRsRHLpypc2DYc1+Jo63ZTQl2DZRPT9KVIKIywIygzBMdDB18KC4paDaMwXXfkdNhJplw2yMsB5EaGN/0oHi9pQYdysMYK/s0vlY1xdAOEwqBiy3FY5SIET571GwgWACDrvrPyNWYa1b1y3J0bSAPMzFQsoAQAZ16bbUSAXQwwNq4UdlVuzEZzyE7T1oi1wi41trn5AQCSDEnah8HfuBGC+7+YT18OdGriSIQsezIUkKdJOhJ030FBfdhVfQF9xI2I9JFWi24OjDpV9/J2iC3mIO5YAc4EdaecMZWuhXQlCrCQNJVC2/Wo5R42Wk7pCW2bokM2/Lr8qKw+NdIyxI1BImPSYpl7TYW0pt9mWMgzqTBhYHzNKVUZCYOh3hiaSnGStIam12cuXmKlWylT1X6zpU7WJZVC6EDaS2nzoZHU/mPrpPxFFJZBVjrIjUH6VGkiKTskuPuZlY5WymQGEr6g71e+LVwe0QltwVfKB/pymgAh6/IUdgcIHzSTIUkQBy6zVSjFKy1JsG+9ONoI6GT9Kt4dwu9jHFpI0BOphVHU6a6kD1qhkbw+f8AejOCcYvYS4bloWySuU5gSIkHTXQ6VU4vi+C2C5NhF7gGMsNcQW5W3lLEQV1UMCNidDrA09K5iPZvGWRn7MbqulxDq4BWAPOPP40Vc9vcTdZibVmQ2kZhlIBUH/NuDrzAqWO9rLzgB7SMpa1dCgj3bfcCE5ZMm3JPptWdf5HukS38lH+HY8OiGwAxEgllCnSYzExOu017FJjQHzWYFqS5DiBCgnUEg91wdKu/65d7ttxZKtaYZuzfLnGQLkbTVcyhvlXuG+2sK9u/Ze+Wzl8zjvZ8mRZ3ygLr51XHN24otZH8ike0V4JkFtY11LEnUz08aShmHM+pmjb13MzHIRJJgbCTMDXYbVQZ/h+JArbGMY9IGUpS7YLrzqq+NV86LtjcnTUeO+1V4m3JSObR86YmC1aK7tgMRPKrLlkGMxZoAUZ2JgDZRJ0HhRNzBkuog6gn4Vd9xjlQfUSDWFszWKRZI+WvwqIEMJ00+FS4heK3XG0NFV5yWBJ161oT0ZmqZ1Tof06/2qOTwH79atuZAgKFs/5wYiRtlj61P/ErnU/0rVWQHus3OR4UUjpALjWAJnw6VoeL8FuJeS1bsjM2gcZshJIAIk5QDI3pdxjh+Ityly3bOUEFwqa5SZIbn6UMMkZq0HPFKD2X8OcdmMhIGvODvVHFimUdpJEmInp4Vbw27IjQCAYonEYRXSSobLJienOlXUh1XEUYUIZylgIMAkxrEwCPKreHYR7jKlq21xiRoiF28+6JrmD7FzKCDB8o0mt99lPELOFxTNeuC0pt5VzAw5JEAQPCnJ2xFUjGvwq9bLC4jW2UDMlxWV4OxAImK3PCeBG6ixbnujZfDypf9pONTEY17uHu51NtBADHRZBIAGijqeZNfQPs/uZUAYrOVdCxQ85lZis2eLtbH4pfbZjOJcCVDBtgHyik93ABdQGB6gsD8jX1P2huK10510gjcHTw6GsdxZLaKMxgwJmssJy5OPwOpNXVGVuT+ZmP8xJjymmVjBzhbrie6ybCd5/tS/FYhORnyBp5wf2jsLgb9lg3asQUgGNNiTyinSUmlQt0jK4fbXx3HjTnA4INYvN/Dk+ZikQxA0+Pzrdeyl/DtgsT2l1EYKNGYAmNRAO9Fm5Ja+QYNGMZIO5pz7M22N0jQyj9R+Umk1+4CSfHStR9ndjtcQFBEgNp1GUg/rUzX9NskezOvPMfCqWPgaZcdsdlea3/AAmDQaGaZB6slbF2CYTc/moizeDE6+73dfNjp/VXeH29bni5rvDrILXf56JlFOEHfueYrthPxn/lWrsHhxnu6cxFSsYOLzkqQpUQdYMRMfEVG6BrRd2dU3cJJPiI+dMFwo8fiaOOAXqfjWeeTiOxw5Get4aJnqD8KjioDW4H5xp/qp23D9Tq29KcRh2bszrPaFeX5bmUcquM1IZLHxQ7tYkTqBz/AFqF0A8qJt8LafeceWX6irsVgSsADEMWBjKgZhEd73dRrtWZO5VE2dK5HzbjNpO3cyZzHl00peDroPL+1aDFFkvOlxMxmQLqDMQwBGgHMNNP8Otm3ZR8PbRrrAhyFnsjsAJ8wZroPK4JJo5q9OpttM+fXrUHx+NVZj4/CtP/AIZdOZmUkjbunvk7xAii/wDpnGf/ABbn9H/NM+pD3aEvDP4LuGY438yiytyVjNnZSnUr3oB9KWe0aFnUMT+GgRQ7g5VXZV0GmtZ0XCNiR6moSKuMIoCWSUuwpbxB/sasONeIDTPI0AboFSe5sKPQNsOscSK/lGxEDTfyrd/Zxxm2uJU3ms2wEIBuqziTEAAEd7pXzZX8KdcJdZtlgogqZkyIMyetDVO0Embv2vxn3vGZ8G4v5bQUm1aa3ChnLACdQAwJJ6+FFcNvgiSzKcoAyGBOUakE8+dZDA40J3rN17TEENmDDQzpoNiK5bLz3Lgb+Vx+hIrLlxym9mnHKMUb3BksZa6yiNYKc9mlhsKAx3DRcLw1pokhnslC3kyman7L8QtKTaxdvu3gy52YCFymY6ydJonGcOwC4tLq3GCQZtqUyARlDQNV1/MZFZYanUrNMk5dIzt3hNxULNAGkKt15MmNRrljQmeRoS7wpogDMWG+ZGaeQ1ymNpHnWzwHsvevAsmICEuzKG3yk6JEFYAnUAb0m9oLeKwV1DcKPZzqnagANMSdA2h330rRGUW6UtinGtNGdt8McKCLbxBBbsnYAywADISDMfrVXYsImF00zIVVR1OZdB461o+EcXOHvW7twtmcv2aBAV0jvOAdW7+lOcXxKywzNcFtSSGzyitqSV74Ay67TVuWS6VP9xTjq0j56iExMHXZSsk9NTtNX4fE3LLFrQuoyn/uD8nIiRI12mtm2ES5ZhDYvE90kqGIWDqGUnva6HlFC2/ZeyJk3MscjGXcSRoDyFG5ZF5RYKjGS7Mn2zs35yzamSGY856kaSTRGBZjvFawexrFTfs3nEK2gbMyiCuXWWAKht+XxpDc4Mcw7G4pRjkU3QEOYKCwMNG8x1oXk9noKCXsVYG2wLyIlpHlUuHoc1yQR3tJ5+IqVnh94rnAQrEytwdSsc4MjarcNhrxZkFu5mUEsvdkBRJ94jlVctaDpFGE/wC5d8CKM0lRO2fTmJNuhXxsEjvTzlG+lct41QZ7k7HXKfLWqb5AtJDW0lXM0GhcNjJ2WfIg/pWg9g8VZu402biK4a2/dYTBENtyMTS+DnKilk4K0LbF9Z1oHiBS2LUHa4XJO2t5X+WtN/bfhtz77kwyW0W4EW3qNSLYZgF/L60s417OXMNhkvXyJuZcstmOsNtsNOlRYPuY7/KTivktxvtSo90Fuje6n9R39Kv4Xxq4xDi/dTKY/CC5ApksCzBtdBvvWabiiuu5P+VjoDESfjRmG46Uwv3dTKlsxUBQmg3JHeJ8NqkMah0tjMmTmlexBxhbmKxWmZ7hYLmJktACrAGxgbCjUZ7KhVTMJGYloYHbVCJA03IqjCXZuZlyyCIZQQVMRpB0rZ4b2ovC0Udbbk/+5cTNdHTvSBy5iKdJ3piYRa3Egl5rRGGxUouQ3hlKkZgJQT4idqB/62X+E/GkGLxepAJYxOZtY5AAbCBppVH3s9f0q16BSVz7LfreLqJj0w5PL41cmDPgKY2nBqw2RyNdD6ZzrFy4Dq3wq5MOu5E/8UUbJphwT2cxWJH4GHu3BPvBSE3/AIzC/Oq417EsWIgGwFEWzW94d9kuKaO2uWrPhmzN8Bp861HDfsowya3Hv3iP4cttD4TBPwIq9A8kfIA5o7A8FxF8/hWLlz+W2xHqYgV984X7M4O2xW1Ysh1jNI7RxO0ltpim2LYooyKbneUMqlVCKT3njwGsVTkicn7I+KYX2GxVi3dv4gC1bt2rjEZwWkKSoyCRqwFZe3jBM5UJ6xlPlKkVuvtF4zjXuXsOqhcKYClEJa6uhDFjJiRy6V87sYUl0UkDM6rrEjMwE+kmkSqXRoxyaWzQ4bjRUd1rluBAytmUA76HX4Gu4niHbLDXhdAIIS6zJqNjOtI+J4Y2rty3rCOy5uuUlZ+VAZtTJHqKUsSW6HPLfufROFcdZCSLAuKpLKQFcqciqsAmRqutW4ziGHxam1iLBtHN3ZNyyCWElssxqREiY518/s4mNZ16qdaI/wAZfYnMOjqGHzpbwq7G/Wpbo2nBvs0w1+5Fu/ct7kEG2/LqApB+O1OOOexNyxZnCYt7ly0fxQz5pA70dmZCmI056189wXGgpBFq2COaMyfIHWmHDuO9kzPau3rTP7xhbitrOsiTr1NNbmo0jKoJyv2HWOx+Lwly5DZ0jO91VlUDIR2YOixqO7qZE1im444YkN3ZzAEAgHaYI3o/j+Pe8ozYjtRJARVy+8SzZhrzNIBhy20epAHlrQwi2vu2w50ncRzhuKl1KrbRyCGAPc12JkeFWPxN1ZiVcQJhWzlthPmBWaxOHZdGkcxrofEEVKznywrEEazPKCTv5U+EVFULlJs2B4omQXGvNmdklLiAazAJkRoYG43phc4jYughuzzMQx7MQ25BGsgLryB86+f/AH26RlYhlO4IBptgscvYi2Ldu2QQTcljcaJGRTPdTUGOtBmgpLReObjKzWcPtq9xyuGtwykZScyrpJZW0giJ1p59lVwHGnKiBOxc5hE5s4XJvpoAdRzrK2MBf+7C+utuck6EgnlpBimv2e4wYG+btxS4ZGSbclpZ0juz4Has2FqL2w88XLaQ69uOP2rWOVDdNq5byOpyystbA1InkIiKV8dxV7F2kR7i38o7RVBRQFEjOMurnukRU/aL2xwz4q69zC920oXNct/iwYQlZjmes6nY0Lwd+GWw9+3cuNlUgWXYwpMDuMeYzSRJ50WTJKPSKxY0+2ZXAcDV7yJefsbbGDdfLkTfWSQOlbE+z2GwgynE2LyXkdQ6gObZEENKvCk7TWK4hxC9ZxVx8zK4MHMAeXuwZB8qvw19cSxN97GH0ntAjKWI2BVTBOp5CinuBUeUcn6FNrh4VgVJhhM6iNY571czFlOQlgJBzeHIDmao4ti9LYU905gFAIXutAIHQjX1pPfx72gcpjNIIj9x50z0qV8p/sM9TKvtiQxuKJ0SOjaifKqO0fqflQQbrXf3tWhuzHRfhb6g96fT+1EllMlbgMawd/hSuvO5G1WpVog0s4yfeMeY3r6H7F/aXYwWCSyyvcuAtpPdALGADqdfIV8lmakKn1GRxTPt/FftwtLphMIzH+O6wQeeVZJ+VY/iX2vcSuiFuW7I/wDqt974uWNYGvChIlR9T9hvtNvK628QyZiVBvOGJuKugRoOjRs3jr47Li3tZirdpwsAudGuqiwDAyohMnSdT8K/PVbj2duM9gZmJOozSc0AwBm3+dKlHdoNGm4T7Qi0ri4r3MxBC6wIVVks+s90+FZX2h9oiXDInZ94ZYIcADWT3dDOu+0VDGXSHKgwsTFK7TFiZ1qo41y5fJbm6or/AMTuXWYlySxJJ0EzrOxqq2ueZYA7azrVt5ABoI2oe2fe9aaCWrZPjp0iP0musT1/frVeG0XTT1ou0Z31oQihbxHKr1xnX9/D+1QxKAbVSRVOCLUmgl7/AEPz/wDyt/8AYuofGMHVWHZto4B6RlB5/Sa+akVvvsYb/wDvX+Vuh/LVwVFSlYf9tWBt2sTaKWlQMkkqIzNmInTTQAfGsEgzkQfDlzB6coJr6X9u9oC/hyBqUefGGEV8pI0bzH1qMuPQQMIQYDKY8Y/WibOEYkBgVBPvHb5V3FWwtq2VGrCSdyfU7V7Ca0mTY6KRp8JeVQLS3GyxJnaZ3ivX+5rM7EHoQdxA0obgVhWzkjUAEanr4U2w1oFCSNcyieeoef0FYpRpmpz+3oTX1tnvPJZjGhPeJkyeu060HxnhYFru90FpABIUnnA2OhM0Zxk5WSP4vPkRz86LwdsXHh+8AtwAdO9yimcmmhaSkmZNrSyWcszzsfdHj4mqlsMzQoJJ/ck8hTE2wueORMb6a+NMeFWhlXTffxp8ptCYwTdELPDWY2rYBZhIUL7xJiQs+VZnihyZtBIYiCP80a1pvae4Vt93SdDoNiDO9ZTiI/C9F+lM9O7TYOfToDt4sEHMi6dDE137yn/jP9X/ABS5d6My06zOf//Z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026" name="Picture 2" descr="Bungo no Yu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64" y="4191001"/>
            <a:ext cx="4402263" cy="251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stern/Japanese Style Room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857" y="4191001"/>
            <a:ext cx="3802143" cy="2530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41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WEATHER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26°C </a:t>
            </a:r>
            <a:r>
              <a:rPr lang="en-SG" dirty="0"/>
              <a:t>to </a:t>
            </a:r>
            <a:r>
              <a:rPr lang="en-SG" dirty="0" smtClean="0"/>
              <a:t>31°C</a:t>
            </a:r>
          </a:p>
          <a:p>
            <a:r>
              <a:rPr lang="en-US" dirty="0" smtClean="0"/>
              <a:t>Advised to wear normal casual clothes: T-shirts, jeans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Please bring a </a:t>
            </a:r>
            <a:r>
              <a:rPr lang="en-US" b="1" dirty="0" smtClean="0">
                <a:solidFill>
                  <a:srgbClr val="FF0000"/>
                </a:solidFill>
              </a:rPr>
              <a:t>light jacket</a:t>
            </a:r>
            <a:r>
              <a:rPr lang="en-US" b="1" dirty="0" smtClean="0"/>
              <a:t> </a:t>
            </a:r>
            <a:r>
              <a:rPr lang="en-US" dirty="0" smtClean="0"/>
              <a:t>and a </a:t>
            </a:r>
            <a:r>
              <a:rPr lang="en-US" b="1" dirty="0" smtClean="0">
                <a:solidFill>
                  <a:srgbClr val="FF0000"/>
                </a:solidFill>
              </a:rPr>
              <a:t>foldable umbrella /disposable raincoat</a:t>
            </a:r>
            <a:r>
              <a:rPr lang="en-US" dirty="0" smtClean="0"/>
              <a:t> since it is forecasted to have heavy rain</a:t>
            </a:r>
          </a:p>
          <a:p>
            <a:r>
              <a:rPr lang="en-US" dirty="0" smtClean="0"/>
              <a:t>Wear a pair of comfortable walking shoes</a:t>
            </a:r>
          </a:p>
          <a:p>
            <a:r>
              <a:rPr lang="en-US" dirty="0" smtClean="0"/>
              <a:t>Avoid wearing sandals when visiting tourist areas</a:t>
            </a:r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6781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Bring any necessary medication that you need: aspirin, </a:t>
            </a:r>
            <a:r>
              <a:rPr lang="en-US" dirty="0" err="1"/>
              <a:t>P</a:t>
            </a:r>
            <a:r>
              <a:rPr lang="en-US" dirty="0" err="1" smtClean="0"/>
              <a:t>anadol</a:t>
            </a:r>
            <a:r>
              <a:rPr lang="en-US" dirty="0" smtClean="0"/>
              <a:t>, allergy medication, nausea medication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If you have asthma, bring a full inhaler in your hand carry bag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2050" name="Picture 2" descr="http://www.thepharmacy.com.au/product_images/u/385/Panadol_Tablets_Generic__00138__23402_zoo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43400"/>
            <a:ext cx="4800179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irishhealth.com/content/image/13532/Asthmainhal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390900"/>
            <a:ext cx="264033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25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INSURANCE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student is insured with </a:t>
            </a:r>
            <a:r>
              <a:rPr lang="en-US" dirty="0" err="1" smtClean="0"/>
              <a:t>Chartis</a:t>
            </a:r>
            <a:r>
              <a:rPr lang="en-US" dirty="0" smtClean="0"/>
              <a:t> (from Great Eastern)</a:t>
            </a:r>
          </a:p>
          <a:p>
            <a:r>
              <a:rPr lang="en-US" dirty="0" smtClean="0"/>
              <a:t>Claims can be made for illnesses, injuries, baggage delay, repatriation and personal liabilities abroad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386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ELECTRONICS: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Bring adaptors for appliances that require charging</a:t>
            </a:r>
          </a:p>
          <a:p>
            <a:r>
              <a:rPr lang="en-US" dirty="0" smtClean="0"/>
              <a:t>Try not to bring expensive cameras and phones </a:t>
            </a:r>
          </a:p>
          <a:p>
            <a:r>
              <a:rPr lang="en-US" dirty="0" smtClean="0"/>
              <a:t>Switch off your data plan to prevent extra cost being incurred</a:t>
            </a:r>
          </a:p>
          <a:p>
            <a:r>
              <a:rPr lang="en-US" dirty="0" smtClean="0"/>
              <a:t>Data roaming is only for phones with 3G</a:t>
            </a:r>
          </a:p>
          <a:p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AutoShape 2" descr="data:image/jpeg;base64,/9j/4AAQSkZJRgABAQAAAQABAAD/2wCEAAkGBxMSEhQSEhIUFRUUEBIWGBgUFhgYFhcaFxQWGBkWFxgYHCghGRolGxUYITEiMSkrMC4uFyAzODMsNygtLisBCgoKDg0NFw8PGiwcFSU3NSwsLCwrLCwsLCssKyssNyw3LCwsLCwrKywsKzcsNyssLCwrKzcsLCsrKyssLCsrK//AABEIALEBHAMBIgACEQEDEQH/xAAcAAEAAgMBAQEAAAAAAAAAAAAABAUBAwYCBwj/xABGEAACAQIFAAUHCQYEBQUAAAABAgADEQQFEiExBhMiQVEUMjNhcYGRByNScpKhsbLRFVNic4OzQsHC4RY0Q2PSJILi8PH/xAAXAQEBAQEAAAAAAAAAAAAAAAAAAgED/8QAHREBAAIDAQEBAQAAAAAAAAAAAAECERIxQSEyA//aAAwDAQACEQMRAD8A+4xEQEREBERAREQEREBERAREQEREDh+kvlq42lSoY6sFr4fG1RTWnhdmoCjopq70GIDGobk6u6F+UIPRevRw/WIgy9d6um9TFsoNK5SwNNaiEnv1223nW4rL0d1rWHXU6dVKbm50dZp1dkEagSi/DkTm16CocC2DeordZi1xFV+rstRvKVrMvV6uypC6BubDxgQMR8oNRWNDyRTilq11dOubqgtFKTllqrRJYsKyADQNyb2tvM6WZ9W8iwtfDddSbEYjCqVWnTNcLVPaQLWBUP3b+Es36G4I01pGidKu7g9ZV6zU4s5NXX1jahsbsbgWO0m5lkWHr0VoVaQakhQqgJUKU822kgi0Cl6A5piKvlVPEtUL0cQFUVkRK4RqaMvWCkBTNyWsV7ud51kr8myTD4RWTD0hTDNqaxJLG1rszEkmwA5lhAREQEREBERAREQEREBERAREQEREBETXiKuhWbSzaQTZRdjbuA7z6oGyJy1etiFANJaoBqVag7J3BrEgMpQkdnexK89549DGVyKhU1WGqsp7AAW2I0J1ZCEnsar7MduLwOnic5hqmKIUsag0lNtA7X/qWU6rrc/NWO1vGWGcU+vo6V1b1qO63DDTXS7DwtYn3QLOJzStXBcuKqXrHU1FAxYrRpqrKCD2GIJ422B755xNPEMoaoaoIqWKU1BWxwpvsFJI6xiL3/C8Dp4lPgTVp03B11CtOmUDKLliguvZA2DfCRcNh8RTAokkBqgYvT7WzI5ftOuxNQBuP+ptA6KJzFSriwib1DqSgznQNSFkqa1UKl7Blp7WJF/XNt8UV1HUzg0wFKKFv1AYtxcHXtzYbiB0UTl8XicQEtT8pY2Y3emAdQVbLYUzcXvyAOe1xOmpm4BPNhA9REQEREBERARIGbXHVPZiErhm0gsQNDrew3O7CVbCvpZqfWKCMVVUBBdm6xTTVgyki4v2djA6OJy9fyhXdk6wX1CwTshfKql2ACntaCp7yQSd7Q5xDBBU609ugRpp2VgK92NTa6kIFP8Ah9nIAdRERAREQEREBERAREQEREBERAgYvNkp1VpMDdtNj2bdokAWJudx3A2kehnSEALSqXbQyLZQXFQOwYdqwHYcm9jt6xJdfLKbv1jA6rodmYAlDdSVBsSJ5bKaRAGkjStNVIZgQEDBbEG42dh67wNSZg7UqDKoD19NtV9K3plySOTYKdvGa8TnIoWWvbWdR+bItpBHasxB7x2Rc+2TTl9Pq1pWIVAoWzEMukWFmBuDb1zU2UUiALNtq31uGbUQWDMDdgbDY+ECPis9Ch9NJ2K9ZbzQGNNwj2OruLX3tGJ6QU6a62Rwupxc6B6M2Yi7dxBFuT3AyXUy2kwIK89Z3kekbU/B7yPdNVfJqLqFZTYCoNnYEiobuCQdwTvAPmemi9VrDS9RRc2BK1TTW57rkD4zQufJoRirMSjM3V2ZV0MEc3JFwGO3eRJ64NAALbLUZxufOYsST47sTPD5bSJYld3BB3Pfpvt3eYvwgRK3SGklgysGuwKnRqXSbE+d2vYLn1T0c7XVbQ9r1FGwu7JVSl2e1sNTW3t47WkirldJjqIN7kmzMt7kEg2O67DbiZfLKR5X94eSCC9QVGIIOx1qCD3W2gaHzpFdEZHVnIFm0ixLFQLartuORcbgyzlcuS0QQ1muCp899yragzb9o37zLGAiIgIiICIiBqxdRlRmVdTBWKrxqIGw95lVRzhroGActV0HSrIyjq3e7U6naHmHxv8AdLavRV1KsLhgQRIhyikRZgzdoG7OxbZWW1yb2szC3HaPjAhf8SIbEI2nWwc3Q6AKT1NXZY32Xjnme/8AiSlp1Wbz9PKbXFx2ten3Xv6pIXJKIFtJO4Padjeysljc8aWIt4GZbJ6RXSdZHfeo5JBFtJOq5W3dxAsImAPCZgIiICIiAiIgIiICIiAiIgIia6zWEDxVr2kVsbIeMryArs19KsQDa4G1+/2zU5XXl0eXSm01P3bfd+saan7tvu/WZmD6ufLo8ulKdf0G+H+8xqf6DfD/AHjMH1eLjZKpVrzlziCCNQYX4uNj6r+MssDiIMr2J4pNcT3CiIiAiIgeWa00PiQJqxla0p6+J8TNTMrnywR5YJzxxg+kPiJjy1fpD4iGZdF5YI8sE53y1fpD4iPLV+kPiIMuiGME208QDOY8uX6Q+IkvD4r1w3Z0YMzI2FqXEkzFEREBERAREQEREBERATRijtN80YniBQYo7yTlfox9ap/caRsWN5Iyv0Q+tU/uNMsmvUuJ4dyCABe4J3NuLer1zAdvor9r/wCMhbLCaXm4s30R9o/+Mj6iSbixBtzfuB8PXMkV2dtamD/3E/GZyqpe019IPRf1E/GZybunSnHO3XV4bibppw/E3TVkREBMNMzBgVOYGVlFQaiX37RPwRpaZgJV4b0qe1vyNE8T6ttI8BGkeAhmsLngSI+JJI7QQE2F7XJ9/f6pzWlMo8B8JqdB4fdMEP8ATPwX9J4FcjZtweD+v6zB5ZR4CUmHq2dlHAqOB7NR2l4ZzlP01T+a/wCYyqdRfjsMubaWUq8r4loJbYIiIaREQEREBERAREQE04jibppxHECgxnM35X6IfWqf3GmjGczflfoh9ap/caZZNet7eePqP+KTlujGDqpmebVHRxTqNgerZgdLaaLhtB4Nid51LeePqP8AikoOn6444Qrl1+vNRBcFQQt+0QX2HdIWlUcJWGYVapv1DYOii9rbrFq1C3YvsdJXe28nHzn+sPyJI/RnyjyWh5X/AMx1S9bx53eTp2v7JIPnP9YfkSJFX0g9F/UT8ZnJe6Y6Qei/qJ+MzkvdLpxzt+nWYfibZqocTbNWREQEwZmYMCqzCVeG9Kntb8rS0zCVeG9Kntb8rRPE+p+NOyjxcfcC3+mch0/wNSq+WdXTd9GbYZ30KW0IDuzWHZUeM7LE09S7cg3Hu7vhce+eMPVnL1bV0uy9q2BxNKkNT1MPUVRcC5KkAXPEr+j2AajgsNRqiz08LRRxe9mVACLj1iUORdKcwq5rXw9bDMmDXrRTc0nUdg9lusOzat/jtxOvxFQnYcnj9fZNsPFJrqCebTn6fpqn81/zGdEq2AA7hac7T9NU/mv+Yzf59Rfjrsr4loJV5XxLQS2wREQ0iIgIiICIiAiIgJpxHEoemPSxMEgUAPXqbU6d/HYM3gt/j8SOUrZriEAD12NU3Z2vZQfoqo20ji3quYHVYzmb8r9EPrVP7jTksPn5qVFWpVRfWAAGPhfe150+T4tGQIrqWBqGwN9usbeZbjI6m1tO2q997WLA91/N908djxf7VT9Z7Pnj6j/ik5zo7nFarmOZ4d2Bp4Y4MUhYAjrKTs9yNzcgcyFL86PF/tVP1mtbb2vzvckm9h478WkKhmrnMKuFIXq0wVGsDbtanq1FNzfiyDuk4+c/1h+RJkir6Qei/qJ+MzkvdMdIPRf1E/GZyXunSnHO36dZQ4m2aqHE2zVkREBMGZmDAqswlXhvSp7W/K0tMwlXhvSp7W/K0TxPq3nh8OpNyoJ9k9O4AJPAEp81zSlRVamIfQr1UprsxGt9lXsA7m3PHsnNafToqWtptzxqUi3iQd7zd1QUGw/zPxM0V6CorO2yqpYkk7AC5PwEjYLGo9NatJ+spOLgjcEeK9/umCQZzlP01T+a/wCYzo77Tlq+JWm9V2vYVW45JL2AHrJIlfz6i/HaZXxLQTja+dHyZmw9+s2U3AvSB5dl3Bt7xcjumvJelbpZMQS6/TsNY9oAAYezf2y2w7aJz2YdNsBRsKmJW5tsoZ7ettIOnbxtL6jWV1DowZWAIINwQeCCORDXuIiAiIgImjG42nRQvVdUUcs5AH3zgs++VKkl1wtM1T9N7og9gtqb7oH0NmABJIAAuSeB6zOE6XfKLRoqaeEZatY3FxcpT/ivazm9tgfb6/n9fG5hmjFfnKwv5iALSXwvwo9pN/XOmyj5KHYasVWCGxslIXINtiWO23hb3wPnmKxL1KjVajlqjNcs3JP+U6gYhq6hgP8ACCSSAATzf3gy7X5JKnfjEHsok/drH4yxwnyaJTW1TEtUtv2aYT8WaBz+R4As9gaZ7Q1EG7BbHcbbbi3/ALhO/wAgwa06dxe7M1yf4WIH3CQsLldLDqVpAi5uSTcn2mWuV+iH1qn9xplmRP1vbzx9R/xScz01zmllVCrjUw6NVqvSVrWQ1CLhS7AEnSt7fDadO6EkEECwI3F+beseEw1NjyUPtQn/AFSFIPRzNBi8NRxQTR11JW0nci/IvbcXvN585/rD8iTfoYcFfsn/AMpo0kEkkEk32Fu4DxPhMkVfSD0X9RPxmcl7pjpB6L+on4zOS906U452/TrKHE2zVQ4m2asiIgJgzMwYFVmEq8N6VPa35WlnmBlZhvSp7W/I0TxPqfjfNH11/Gc701ySri6FGnRC6kxuHqnUbDShbVb178Tp6tPUCP8A6D3H4yKtfQbMQD6z+HjOXq0/NMN1tGrTBsalKogJ4GpSL/fKHo5lBwmDoYZmDmjT0lgCAdybgH2zm8LgcwGbti3xSHBtrUUutJsnV2X5u2kHUAb8zsnqa9lPvG4H+/qmzI8YfzB7JxudVVDsGBJ692Fv4WO5+1O2C2AA4AnK4jCLVqVAw/6r2I5HaPE2nU2V9Cva1RHtYjcGxBO1iORf4H1yozfM6lGrqZg61CTp0qhW1uNIA7/D9ZbZv0ZqKpbT1tO25A3UfxD/ADH3TkczwLW1hiwVbWY3IHqPeN5bWOlWYUqlJSm7E7m1mA40n43909dBenVbL20G9TDs3ap33S53eme4/wAPB9XM5bFvdj4DaagYH6oybNqOKpLWoOHRu8bEHvVgd1YeBk6fmXof0ir4LE0zRchalaktROVdNYDXB4Okmx5Bn6agIiIHyDO+huPxeNrX1GmKp0VKzdkKbEBBubAG2wttOmyP5MsNSs1cmu47j2af2Qd/eT7J3MQNeHoLTUIiqqjgKAAPYBNkRATRiuJvmustxA53FjeSMq9EPrVP7jRjKEqa1N1voZlub9liB8ImMoicS6GJyZav+9qfaMaq/wC9qfaMnSW7w6lppac3ev8Avan2jMWrfvan2jGkm8J/SD0X9RPxnrJRxK3yV2I1szW41Em0v8qwtpVYxCc5lfUOJtnikLCe4dCIiAmGmZgwKjMJW4b0qe1vyNLjHU5SVwykMpsVNxtccEEEewx4j1dROfqZvXH+FPgf1nj9tV/o0/g36ydZVtDommpzKE5zX+jT+B/WeTm1f6KfA/rM1k2hdNOcp+lqfzX/ADGbzmdfwT4H9Z5wGGYtc7kkknxJNzKrWYn6m0xPHSYGnqQqeGUg+wi0+UdIugeYYdCKI6+l/wBs9oDuJQ7+4Xn2DL6VhLCaqH5LdSpKsCGBsQRYg+BB4M8ObT9P9IOjGFxq2xFFWPc47NQexxv7uJBwPQHLqSqFwlNtJJ1VLuxJ8Wckn2cDuhr81VHCqzm5AA1W7r7AX7t9p+hfk5+UDC5jSWmh6uuiANRc3ayi2pG21r947wJ1v7PpdWaXVU+rYEFNI0EHkFbWnxPp98j9SgxxmUluydXUqxFRD9Ki17n6vPgTxA+6xPlPyPfKNXx1RsDi0vWpUmfrfNLBGVStRe5xqG45sdh3/TsNjFcalva9t7frtAkREQERIOZYiomjQEIZ1XtXvdjztAnRKynnlK+kk6gqki3BLMpHtUoSR3DebKeaKyuQjgpT6zSwALKQSpG/fpPO477QJFWheRXwIkSl0g00y9ZCtiL6bbDq0fcsQL2fi9zbYSYmaDRWdlYLScji5YBVNwB7eIZhr/Zw8I/Zw8J5xWfU6alnV10lgwIW66Qrb9qx7LAgAkm/GxmcVnlOmGZlfSrMpaygXS+qxLDi3v7r7wYZ/Zw8I/Zw8JqfPVVn1gBVJAIO5OoKB2rAXv4yRgc0WqW0jsimr3792qKR4baIMMJl48JLo0AJBTPKZC9ipdtBUFRcqyswfnYWRubHbjielztCB2Kl20FRpF3D30su/BsebW77QYWcStTOqZ02VyG0AnTspfhW3uD8e7xE3ZZmKV1LpewNt7eF+4nx45HfDUyIiAiV+JzPq6gRqb2Ks2u9MIFXRqY3e4A1ju8ZvfH0he9RBpLA9obFbXB9Y1D4iBsq07yDWwV5txOa00pddfUtwBptuSwW25ABubb8TFHNaTBLsFLi4VrX5IF7bblTbxtDMIbZYPCef2WPCT6eZ0TSWtrAR7aSdrk8D27cT2uYUSVUVFJYArY8ggkfEA29kGqt/ZY8I/ZY8JPTNKDaQKqHVbTY83Nh8SNvHumuhnNFl1k6BdfPsPOpq/cTsA4v4bwaooyseEk4fAASQuOp6WckKqOyksQBsbXv4XmBmlGwPWpuGIubbLfUT4WsbwYSaaWnuQjm1CwPWpZibb+BAPstcX8LzLZpRBZTVS6gki+4sQD95A9ptDUyJ4o1VdQykEHgie4CIiBUjo5hhixjVpBcRoZC67a1a3ngbMeyN+ZWYLMqVIFaj2JdmAPWcHjcIL+2dPVawJtewJt42Ep8qp9g66e+s+cjBjxudX/5AuoiICa61ENbUPNYMPaOJsiBAXJ6Ic1NHaLu53NruoVja9two+/xnvD5bTQMAG7ShTqZmOkA2UFjsBc7euV2OwFZsQKi20gjcMQdOhgQQe/Ub2FhYA7mahlFRVAA1L80WQ1WGphTZWOrffUVPrtfkQJ7ZRQqAMASGXlXYXVkRbXB3BVF+E2YjK1NOrTUkdaN7kn/AAhbgX22AkDE5bVOHoUgFJRFV+0eRT03B4Iv4g+Nrzzm6OtGiHDOQhVgC+79XYNqQE3BB9523tAm18iouLMGNw4J6x9TBwoYM17nZVHuE94jJ6TizBuanDMPSG7jY8EysTKqmkMylyWplkNQjUow6Jp8BaoC1u/nmeky/EgBbg+aS3WHa1Bk07i57Vjf38wLF8po7kgjvvqYEWINwb7G4nvCYanYmmb3RV1ai1xuw3J39ITf1ypqZPUA0galst1NVhduq0l778Nv9/ImBk1UrpY8UnC2cgB+ow6odvB6bn1c98CywOTU6aoDdmQINRZj5qMgABJstnbs8bz1TyyjTs1j2SttTsdIW4VRc7KNR29crcuR/Kt1fs9frcl7EFl0CxGnYbD2G3fPFPA1meoygr87W7RdruvWjSuk8AAE3+HnGBNfIx1israUUoSvauSpJFzqsee8E7ey07BYBKWrRe7WuWYsTYWG7G+0h5ZgXpNqNzqSzdsm7dYTfc9yn7rS2gIiIEXE4JXYM3ApVaZHcRUKX/J98rsP0dVdR61yxFPtEDZ0cOalu8sVS4/gEu5zT4jFGpUA60KSwHZvptWpgFexbzC55b7oFsuXfNlC5JNVajNYC5FRX2HcOyBIjZBdkPWtZGpsBba6VC+29he9jtfYbyFjRXKlCaxAYhdKA67Vz6QhdhoCkHa+/MmZ3XrrUQUhUsNBOkXU/OAMDZDwo8V52ueA3VctcU6NNH9FVUhiBsoVgLjv5A7vdNS5AAyHrWIQq1iL7gG/qAOonjnvttNecY10roodwNWFsqhSDrr6anWXFwNI2477X3tpd8SADqrFmUlQEUrr1kaKnZ7KaQu+3Lb8QJlTIrmn861qa0QBbb5o3BG9hfv2980v0aSyjXuotdlBFjTpodj3/Ng3/GYfE4huwBUUgsGbRtviEAKkix+aLG/HwM0Ynyg2RjWIFRQulAdYXEm5qnTsOrCEHa+53gWOIysig1KmdzUVgdtvnFb2bAQMlBD6nJZ1NyAB2teoMBxtYC3q3vIaHEDtDUArKAmkBCGapqLdm9vNN7i3vnvJMa7ird3YLSpMDUVQQzK5a2kC42H+RIgSDkt9ZaoS1SnVVjYAdsUxcDusKQ++RRk1RnYOQKYWsF81vSVUqcEbjsm/t28ZGpYjENTV16x/mwwL0xqDmhVJ0gL5urRY+si5l1lxdS6OXa1QaGZRuOrRjuoAtqLD3W7oG/AYXqkCai1r7n1kmwv3C9h6hJERAREQPFemGVlbgqQe7Yix3lTl5RlJ0VdmI7ZudreHdLhuJT5dTCKVcANq4vtwLW7I2+PtgXMREBERAREQEREBERAREQEREBERAREQEREBERApcy/5vD+x5dREBERASj6OehqfzKsxEC2wPo0/lp+UTfEQEREBERA0430b/Ub8DOYyLzG/mf6FiI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sp>
        <p:nvSpPr>
          <p:cNvPr id="5" name="AutoShape 4" descr="data:image/jpeg;base64,/9j/4AAQSkZJRgABAQAAAQABAAD/2wCEAAkGBxMSEhQSEhIUFRUUEBIWGBgUFhgYFhcaFxQWGBkWFxgYHCghGRolGxUYITEiMSkrMC4uFyAzODMsNygtLisBCgoKDg0NFw8PGiwcFSU3NSwsLCwrLCwsLCssKyssNyw3LCwsLCwrKywsKzcsNyssLCwrKzcsLCsrKyssLCsrK//AABEIALEBHAMBIgACEQEDEQH/xAAcAAEAAgMBAQEAAAAAAAAAAAAABAUBAwYCBwj/xABGEAACAQIFAAUHCQYEBQUAAAABAgADEQQFEiExBhMiQVEUMjNhcYGRByNScpKhsbLRFVNic4OzQsHC4RY0Q2PSJILi8PH/xAAXAQEBAQEAAAAAAAAAAAAAAAAAAgED/8QAHREBAAIDAQEBAQAAAAAAAAAAAAECERIxQSEyA//aAAwDAQACEQMRAD8A+4xEQEREBERAREQEREBERAREQEREDh+kvlq42lSoY6sFr4fG1RTWnhdmoCjopq70GIDGobk6u6F+UIPRevRw/WIgy9d6um9TFsoNK5SwNNaiEnv1223nW4rL0d1rWHXU6dVKbm50dZp1dkEagSi/DkTm16CocC2DeordZi1xFV+rstRvKVrMvV6uypC6BubDxgQMR8oNRWNDyRTilq11dOubqgtFKTllqrRJYsKyADQNyb2tvM6WZ9W8iwtfDddSbEYjCqVWnTNcLVPaQLWBUP3b+Es36G4I01pGidKu7g9ZV6zU4s5NXX1jahsbsbgWO0m5lkWHr0VoVaQakhQqgJUKU822kgi0Cl6A5piKvlVPEtUL0cQFUVkRK4RqaMvWCkBTNyWsV7ud51kr8myTD4RWTD0hTDNqaxJLG1rszEkmwA5lhAREQEREBERAREQEREBERAREQEREBETXiKuhWbSzaQTZRdjbuA7z6oGyJy1etiFANJaoBqVag7J3BrEgMpQkdnexK89549DGVyKhU1WGqsp7AAW2I0J1ZCEnsar7MduLwOnic5hqmKIUsag0lNtA7X/qWU6rrc/NWO1vGWGcU+vo6V1b1qO63DDTXS7DwtYn3QLOJzStXBcuKqXrHU1FAxYrRpqrKCD2GIJ422B755xNPEMoaoaoIqWKU1BWxwpvsFJI6xiL3/C8Dp4lPgTVp03B11CtOmUDKLliguvZA2DfCRcNh8RTAokkBqgYvT7WzI5ftOuxNQBuP+ptA6KJzFSriwib1DqSgznQNSFkqa1UKl7Blp7WJF/XNt8UV1HUzg0wFKKFv1AYtxcHXtzYbiB0UTl8XicQEtT8pY2Y3emAdQVbLYUzcXvyAOe1xOmpm4BPNhA9REQEREBERARIGbXHVPZiErhm0gsQNDrew3O7CVbCvpZqfWKCMVVUBBdm6xTTVgyki4v2djA6OJy9fyhXdk6wX1CwTshfKql2ACntaCp7yQSd7Q5xDBBU609ugRpp2VgK92NTa6kIFP8Ah9nIAdRERAREQEREBERAREQEREBERAgYvNkp1VpMDdtNj2bdokAWJudx3A2kehnSEALSqXbQyLZQXFQOwYdqwHYcm9jt6xJdfLKbv1jA6rodmYAlDdSVBsSJ5bKaRAGkjStNVIZgQEDBbEG42dh67wNSZg7UqDKoD19NtV9K3plySOTYKdvGa8TnIoWWvbWdR+bItpBHasxB7x2Rc+2TTl9Pq1pWIVAoWzEMukWFmBuDb1zU2UUiALNtq31uGbUQWDMDdgbDY+ECPis9Ch9NJ2K9ZbzQGNNwj2OruLX3tGJ6QU6a62Rwupxc6B6M2Yi7dxBFuT3AyXUy2kwIK89Z3kekbU/B7yPdNVfJqLqFZTYCoNnYEiobuCQdwTvAPmemi9VrDS9RRc2BK1TTW57rkD4zQufJoRirMSjM3V2ZV0MEc3JFwGO3eRJ64NAALbLUZxufOYsST47sTPD5bSJYld3BB3Pfpvt3eYvwgRK3SGklgysGuwKnRqXSbE+d2vYLn1T0c7XVbQ9r1FGwu7JVSl2e1sNTW3t47WkirldJjqIN7kmzMt7kEg2O67DbiZfLKR5X94eSCC9QVGIIOx1qCD3W2gaHzpFdEZHVnIFm0ixLFQLartuORcbgyzlcuS0QQ1muCp899yragzb9o37zLGAiIgIiICIiBqxdRlRmVdTBWKrxqIGw95lVRzhroGActV0HSrIyjq3e7U6naHmHxv8AdLavRV1KsLhgQRIhyikRZgzdoG7OxbZWW1yb2szC3HaPjAhf8SIbEI2nWwc3Q6AKT1NXZY32Xjnme/8AiSlp1Wbz9PKbXFx2ten3Xv6pIXJKIFtJO4Padjeysljc8aWIt4GZbJ6RXSdZHfeo5JBFtJOq5W3dxAsImAPCZgIiICIiAiIgIiICIiAiIgIia6zWEDxVr2kVsbIeMryArs19KsQDa4G1+/2zU5XXl0eXSm01P3bfd+saan7tvu/WZmD6ufLo8ulKdf0G+H+8xqf6DfD/AHjMH1eLjZKpVrzlziCCNQYX4uNj6r+MssDiIMr2J4pNcT3CiIiAiIgeWa00PiQJqxla0p6+J8TNTMrnywR5YJzxxg+kPiJjy1fpD4iGZdF5YI8sE53y1fpD4iPLV+kPiIMuiGME208QDOY8uX6Q+IkvD4r1w3Z0YMzI2FqXEkzFEREBERAREQEREBERATRijtN80YniBQYo7yTlfox9ap/caRsWN5Iyv0Q+tU/uNMsmvUuJ4dyCABe4J3NuLer1zAdvor9r/wCMhbLCaXm4s30R9o/+Mj6iSbixBtzfuB8PXMkV2dtamD/3E/GZyqpe019IPRf1E/GZybunSnHO3XV4bibppw/E3TVkREBMNMzBgVOYGVlFQaiX37RPwRpaZgJV4b0qe1vyNE8T6ttI8BGkeAhmsLngSI+JJI7QQE2F7XJ9/f6pzWlMo8B8JqdB4fdMEP8ATPwX9J4FcjZtweD+v6zB5ZR4CUmHq2dlHAqOB7NR2l4ZzlP01T+a/wCYyqdRfjsMubaWUq8r4loJbYIiIaREQEREBERAREQE04jibppxHECgxnM35X6IfWqf3GmjGczflfoh9ap/caZZNet7eePqP+KTlujGDqpmebVHRxTqNgerZgdLaaLhtB4Nid51LeePqP8AikoOn6444Qrl1+vNRBcFQQt+0QX2HdIWlUcJWGYVapv1DYOii9rbrFq1C3YvsdJXe28nHzn+sPyJI/RnyjyWh5X/AMx1S9bx53eTp2v7JIPnP9YfkSJFX0g9F/UT8ZnJe6Y6Qei/qJ+MzkvdLpxzt+nWYfibZqocTbNWREQEwZmYMCqzCVeG9Kntb8rS0zCVeG9Kntb8rRPE+p+NOyjxcfcC3+mch0/wNSq+WdXTd9GbYZ30KW0IDuzWHZUeM7LE09S7cg3Hu7vhce+eMPVnL1bV0uy9q2BxNKkNT1MPUVRcC5KkAXPEr+j2AajgsNRqiz08LRRxe9mVACLj1iUORdKcwq5rXw9bDMmDXrRTc0nUdg9lusOzat/jtxOvxFQnYcnj9fZNsPFJrqCebTn6fpqn81/zGdEq2AA7hac7T9NU/mv+Yzf59Rfjrsr4loJV5XxLQS2wREQ0iIgIiICIiAiIgJpxHEoemPSxMEgUAPXqbU6d/HYM3gt/j8SOUrZriEAD12NU3Z2vZQfoqo20ji3quYHVYzmb8r9EPrVP7jTksPn5qVFWpVRfWAAGPhfe150+T4tGQIrqWBqGwN9usbeZbjI6m1tO2q997WLA91/N908djxf7VT9Z7Pnj6j/ik5zo7nFarmOZ4d2Bp4Y4MUhYAjrKTs9yNzcgcyFL86PF/tVP1mtbb2vzvckm9h478WkKhmrnMKuFIXq0wVGsDbtanq1FNzfiyDuk4+c/1h+RJkir6Qei/qJ+MzkvdMdIPRf1E/GZyXunSnHO36dZQ4m2aqHE2zVkREBMGZmDAqswlXhvSp7W/K0tMwlXhvSp7W/K0TxPq3nh8OpNyoJ9k9O4AJPAEp81zSlRVamIfQr1UprsxGt9lXsA7m3PHsnNafToqWtptzxqUi3iQd7zd1QUGw/zPxM0V6CorO2yqpYkk7AC5PwEjYLGo9NatJ+spOLgjcEeK9/umCQZzlP01T+a/wCYzo77Tlq+JWm9V2vYVW45JL2AHrJIlfz6i/HaZXxLQTja+dHyZmw9+s2U3AvSB5dl3Bt7xcjumvJelbpZMQS6/TsNY9oAAYezf2y2w7aJz2YdNsBRsKmJW5tsoZ7ettIOnbxtL6jWV1DowZWAIINwQeCCORDXuIiAiIgImjG42nRQvVdUUcs5AH3zgs++VKkl1wtM1T9N7og9gtqb7oH0NmABJIAAuSeB6zOE6XfKLRoqaeEZatY3FxcpT/ivazm9tgfb6/n9fG5hmjFfnKwv5iALSXwvwo9pN/XOmyj5KHYasVWCGxslIXINtiWO23hb3wPnmKxL1KjVajlqjNcs3JP+U6gYhq6hgP8ACCSSAATzf3gy7X5JKnfjEHsok/drH4yxwnyaJTW1TEtUtv2aYT8WaBz+R4As9gaZ7Q1EG7BbHcbbbi3/ALhO/wAgwa06dxe7M1yf4WIH3CQsLldLDqVpAi5uSTcn2mWuV+iH1qn9xplmRP1vbzx9R/xScz01zmllVCrjUw6NVqvSVrWQ1CLhS7AEnSt7fDadO6EkEECwI3F+beseEw1NjyUPtQn/AFSFIPRzNBi8NRxQTR11JW0nci/IvbcXvN585/rD8iTfoYcFfsn/AMpo0kEkkEk32Fu4DxPhMkVfSD0X9RPxmcl7pjpB6L+on4zOS906U452/TrKHE2zVQ4m2asiIgJgzMwYFVmEq8N6VPa35WlnmBlZhvSp7W/I0TxPqfjfNH11/Gc701ySri6FGnRC6kxuHqnUbDShbVb178Tp6tPUCP8A6D3H4yKtfQbMQD6z+HjOXq0/NMN1tGrTBsalKogJ4GpSL/fKHo5lBwmDoYZmDmjT0lgCAdybgH2zm8LgcwGbti3xSHBtrUUutJsnV2X5u2kHUAb8zsnqa9lPvG4H+/qmzI8YfzB7JxudVVDsGBJ692Fv4WO5+1O2C2AA4AnK4jCLVqVAw/6r2I5HaPE2nU2V9Cva1RHtYjcGxBO1iORf4H1yozfM6lGrqZg61CTp0qhW1uNIA7/D9ZbZv0ZqKpbT1tO25A3UfxD/ADH3TkczwLW1hiwVbWY3IHqPeN5bWOlWYUqlJSm7E7m1mA40n43909dBenVbL20G9TDs3ap33S53eme4/wAPB9XM5bFvdj4DaagYH6oybNqOKpLWoOHRu8bEHvVgd1YeBk6fmXof0ir4LE0zRchalaktROVdNYDXB4Okmx5Bn6agIiIHyDO+huPxeNrX1GmKp0VKzdkKbEBBubAG2wttOmyP5MsNSs1cmu47j2af2Qd/eT7J3MQNeHoLTUIiqqjgKAAPYBNkRATRiuJvmustxA53FjeSMq9EPrVP7jRjKEqa1N1voZlub9liB8ImMoicS6GJyZav+9qfaMaq/wC9qfaMnSW7w6lppac3ev8Avan2jMWrfvan2jGkm8J/SD0X9RPxnrJRxK3yV2I1szW41Em0v8qwtpVYxCc5lfUOJtnikLCe4dCIiAmGmZgwKjMJW4b0qe1vyNLjHU5SVwykMpsVNxtccEEEewx4j1dROfqZvXH+FPgf1nj9tV/o0/g36ydZVtDommpzKE5zX+jT+B/WeTm1f6KfA/rM1k2hdNOcp+lqfzX/ADGbzmdfwT4H9Z5wGGYtc7kkknxJNzKrWYn6m0xPHSYGnqQqeGUg+wi0+UdIugeYYdCKI6+l/wBs9oDuJQ7+4Xn2DL6VhLCaqH5LdSpKsCGBsQRYg+BB4M8ObT9P9IOjGFxq2xFFWPc47NQexxv7uJBwPQHLqSqFwlNtJJ1VLuxJ8Wckn2cDuhr81VHCqzm5AA1W7r7AX7t9p+hfk5+UDC5jSWmh6uuiANRc3ayi2pG21r947wJ1v7PpdWaXVU+rYEFNI0EHkFbWnxPp98j9SgxxmUluydXUqxFRD9Ki17n6vPgTxA+6xPlPyPfKNXx1RsDi0vWpUmfrfNLBGVStRe5xqG45sdh3/TsNjFcalva9t7frtAkREQERIOZYiomjQEIZ1XtXvdjztAnRKynnlK+kk6gqki3BLMpHtUoSR3DebKeaKyuQjgpT6zSwALKQSpG/fpPO477QJFWheRXwIkSl0g00y9ZCtiL6bbDq0fcsQL2fi9zbYSYmaDRWdlYLScji5YBVNwB7eIZhr/Zw8I/Zw8J5xWfU6alnV10lgwIW66Qrb9qx7LAgAkm/GxmcVnlOmGZlfSrMpaygXS+qxLDi3v7r7wYZ/Zw8I/Zw8JqfPVVn1gBVJAIO5OoKB2rAXv4yRgc0WqW0jsimr3792qKR4baIMMJl48JLo0AJBTPKZC9ipdtBUFRcqyswfnYWRubHbjielztCB2Kl20FRpF3D30su/BsebW77QYWcStTOqZ02VyG0AnTspfhW3uD8e7xE3ZZmKV1LpewNt7eF+4nx45HfDUyIiAiV+JzPq6gRqb2Ks2u9MIFXRqY3e4A1ju8ZvfH0he9RBpLA9obFbXB9Y1D4iBsq07yDWwV5txOa00pddfUtwBptuSwW25ABubb8TFHNaTBLsFLi4VrX5IF7bblTbxtDMIbZYPCef2WPCT6eZ0TSWtrAR7aSdrk8D27cT2uYUSVUVFJYArY8ggkfEA29kGqt/ZY8I/ZY8JPTNKDaQKqHVbTY83Nh8SNvHumuhnNFl1k6BdfPsPOpq/cTsA4v4bwaooyseEk4fAASQuOp6WckKqOyksQBsbXv4XmBmlGwPWpuGIubbLfUT4WsbwYSaaWnuQjm1CwPWpZibb+BAPstcX8LzLZpRBZTVS6gki+4sQD95A9ptDUyJ4o1VdQykEHgie4CIiBUjo5hhixjVpBcRoZC67a1a3ngbMeyN+ZWYLMqVIFaj2JdmAPWcHjcIL+2dPVawJtewJt42Ep8qp9g66e+s+cjBjxudX/5AuoiICa61ENbUPNYMPaOJsiBAXJ6Ic1NHaLu53NruoVja9two+/xnvD5bTQMAG7ShTqZmOkA2UFjsBc7euV2OwFZsQKi20gjcMQdOhgQQe/Ub2FhYA7mahlFRVAA1L80WQ1WGphTZWOrffUVPrtfkQJ7ZRQqAMASGXlXYXVkRbXB3BVF+E2YjK1NOrTUkdaN7kn/AAhbgX22AkDE5bVOHoUgFJRFV+0eRT03B4Iv4g+Nrzzm6OtGiHDOQhVgC+79XYNqQE3BB9523tAm18iouLMGNw4J6x9TBwoYM17nZVHuE94jJ6TizBuanDMPSG7jY8EysTKqmkMylyWplkNQjUow6Jp8BaoC1u/nmeky/EgBbg+aS3WHa1Bk07i57Vjf38wLF8po7kgjvvqYEWINwb7G4nvCYanYmmb3RV1ai1xuw3J39ITf1ypqZPUA0galst1NVhduq0l778Nv9/ImBk1UrpY8UnC2cgB+ow6odvB6bn1c98CywOTU6aoDdmQINRZj5qMgABJstnbs8bz1TyyjTs1j2SttTsdIW4VRc7KNR29crcuR/Kt1fs9frcl7EFl0CxGnYbD2G3fPFPA1meoygr87W7RdruvWjSuk8AAE3+HnGBNfIx1israUUoSvauSpJFzqsee8E7ey07BYBKWrRe7WuWYsTYWG7G+0h5ZgXpNqNzqSzdsm7dYTfc9yn7rS2gIiIEXE4JXYM3ApVaZHcRUKX/J98rsP0dVdR61yxFPtEDZ0cOalu8sVS4/gEu5zT4jFGpUA60KSwHZvptWpgFexbzC55b7oFsuXfNlC5JNVajNYC5FRX2HcOyBIjZBdkPWtZGpsBba6VC+29he9jtfYbyFjRXKlCaxAYhdKA67Vz6QhdhoCkHa+/MmZ3XrrUQUhUsNBOkXU/OAMDZDwo8V52ueA3VctcU6NNH9FVUhiBsoVgLjv5A7vdNS5AAyHrWIQq1iL7gG/qAOonjnvttNecY10roodwNWFsqhSDrr6anWXFwNI2477X3tpd8SADqrFmUlQEUrr1kaKnZ7KaQu+3Lb8QJlTIrmn861qa0QBbb5o3BG9hfv2980v0aSyjXuotdlBFjTpodj3/Ng3/GYfE4huwBUUgsGbRtviEAKkix+aLG/HwM0Ynyg2RjWIFRQulAdYXEm5qnTsOrCEHa+53gWOIysig1KmdzUVgdtvnFb2bAQMlBD6nJZ1NyAB2teoMBxtYC3q3vIaHEDtDUArKAmkBCGapqLdm9vNN7i3vnvJMa7ird3YLSpMDUVQQzK5a2kC42H+RIgSDkt9ZaoS1SnVVjYAdsUxcDusKQ++RRk1RnYOQKYWsF81vSVUqcEbjsm/t28ZGpYjENTV16x/mwwL0xqDmhVJ0gL5urRY+si5l1lxdS6OXa1QaGZRuOrRjuoAtqLD3W7oG/AYXqkCai1r7n1kmwv3C9h6hJERAREQPFemGVlbgqQe7Yix3lTl5RlJ0VdmI7ZudreHdLhuJT5dTCKVcANq4vtwLW7I2+PtgXMREBERAREQEREBERAREQEREBERAREQEREBERApcy/5vD+x5dREBERASj6OehqfzKsxEC2wPo0/lp+UTfEQEREBERA0430b/Ub8DOYyLzG/mf6FiI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5126" name="Picture 6" descr="North and Central America and Japan adapter Plu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1" r="54175"/>
          <a:stretch/>
        </p:blipFill>
        <p:spPr bwMode="auto">
          <a:xfrm>
            <a:off x="6400800" y="3733866"/>
            <a:ext cx="2286000" cy="290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89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INFORMATION: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458200" cy="4876800"/>
          </a:xfrm>
        </p:spPr>
        <p:txBody>
          <a:bodyPr>
            <a:normAutofit/>
          </a:bodyPr>
          <a:lstStyle/>
          <a:p>
            <a:r>
              <a:rPr lang="en-US" b="1" dirty="0" smtClean="0"/>
              <a:t>Time</a:t>
            </a:r>
            <a:r>
              <a:rPr lang="en-US" dirty="0" smtClean="0"/>
              <a:t> in Japan is </a:t>
            </a:r>
            <a:r>
              <a:rPr lang="en-US" b="1" dirty="0" smtClean="0">
                <a:solidFill>
                  <a:srgbClr val="FF0000"/>
                </a:solidFill>
              </a:rPr>
              <a:t>1 hour ahead </a:t>
            </a:r>
            <a:r>
              <a:rPr lang="en-US" dirty="0" smtClean="0"/>
              <a:t>of Singapore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eg</a:t>
            </a:r>
            <a:r>
              <a:rPr lang="en-US" dirty="0" smtClean="0"/>
              <a:t>: 1400h in Japan is 1300h in Singapore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Currency (Yen)</a:t>
            </a:r>
          </a:p>
          <a:p>
            <a:pPr marL="0" indent="0">
              <a:buNone/>
            </a:pPr>
            <a:r>
              <a:rPr lang="en-US" dirty="0" smtClean="0"/>
              <a:t>-Exchange rate in late May 2014</a:t>
            </a:r>
          </a:p>
          <a:p>
            <a:pPr marL="0" indent="0">
              <a:buNone/>
            </a:pPr>
            <a:r>
              <a:rPr lang="en-US" dirty="0" smtClean="0"/>
              <a:t>100 Yen to 1.23 SGD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All meals, transport and accommodation is provided</a:t>
            </a:r>
          </a:p>
          <a:p>
            <a:endParaRPr lang="en-US" dirty="0"/>
          </a:p>
          <a:p>
            <a:r>
              <a:rPr lang="en-US" dirty="0" smtClean="0"/>
              <a:t>If you intend to spend in Incheon Airport, feel free to change some money to Korean Won (1000 Won to 1.20 SGD)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3692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INFORMATION: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458200" cy="4876800"/>
          </a:xfrm>
        </p:spPr>
        <p:txBody>
          <a:bodyPr>
            <a:normAutofit/>
          </a:bodyPr>
          <a:lstStyle/>
          <a:p>
            <a:r>
              <a:rPr lang="en-SG" dirty="0"/>
              <a:t>Fukuoka is 1,020km southwest of Fukushima where the damaged nuclear power plant is located. </a:t>
            </a:r>
            <a:endParaRPr lang="en-SG" dirty="0" smtClean="0"/>
          </a:p>
          <a:p>
            <a:r>
              <a:rPr lang="en-SG" dirty="0" smtClean="0"/>
              <a:t>The </a:t>
            </a:r>
            <a:r>
              <a:rPr lang="en-SG" dirty="0"/>
              <a:t>mid-latitude </a:t>
            </a:r>
            <a:r>
              <a:rPr lang="en-SG" dirty="0" err="1"/>
              <a:t>Westerlies</a:t>
            </a:r>
            <a:r>
              <a:rPr lang="en-SG" dirty="0"/>
              <a:t> wind this year is highly unlikely that air-borne radiation leaked from reactors will reach Fukuoka at Health-threatening levels.</a:t>
            </a:r>
          </a:p>
          <a:p>
            <a:r>
              <a:rPr lang="en-SG" dirty="0"/>
              <a:t>Vegetables and Dairy Products distributed in Fukuoka are locally grown in Kyushu region.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376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INFORMATION FOR CALLS MADE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Calls from Singapore to Japan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err="1"/>
              <a:t>Starhub</a:t>
            </a:r>
            <a:r>
              <a:rPr lang="en-US" dirty="0"/>
              <a:t>: </a:t>
            </a:r>
            <a:r>
              <a:rPr lang="en-US" dirty="0" smtClean="0"/>
              <a:t>018+81XXXXXXXX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Singtel</a:t>
            </a:r>
            <a:r>
              <a:rPr lang="en-US" dirty="0"/>
              <a:t>: </a:t>
            </a:r>
            <a:r>
              <a:rPr lang="en-US" dirty="0" smtClean="0"/>
              <a:t>019+81XXXXXXXX</a:t>
            </a:r>
          </a:p>
          <a:p>
            <a:pPr marL="0" indent="0">
              <a:buNone/>
            </a:pPr>
            <a:r>
              <a:rPr lang="en-US" dirty="0" smtClean="0"/>
              <a:t>-M1</a:t>
            </a:r>
            <a:r>
              <a:rPr lang="en-US" dirty="0"/>
              <a:t>: </a:t>
            </a:r>
            <a:r>
              <a:rPr lang="en-US" dirty="0" smtClean="0"/>
              <a:t>021+81XXXXXXXX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 smtClean="0"/>
              <a:t>Calls from Japan to Singapore</a:t>
            </a:r>
          </a:p>
          <a:p>
            <a:pPr marL="0" indent="0">
              <a:buNone/>
            </a:pPr>
            <a:r>
              <a:rPr lang="en-US" dirty="0" smtClean="0"/>
              <a:t>-Call as per normal, but the caller and received party must both have +65 prefix added to the phone numbers (for 3G phones and roaming service needs to be activated)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225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INFORMATION FOR CALLS MADE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Calls from Japan to Singapore/Other countries</a:t>
            </a:r>
          </a:p>
          <a:p>
            <a:pPr marL="0" indent="0">
              <a:buNone/>
            </a:pPr>
            <a:r>
              <a:rPr lang="en-US" dirty="0" smtClean="0"/>
              <a:t>-For </a:t>
            </a:r>
            <a:r>
              <a:rPr lang="en-US" dirty="0"/>
              <a:t>g</a:t>
            </a:r>
            <a:r>
              <a:rPr lang="en-US" dirty="0" smtClean="0"/>
              <a:t>lobal roam services for </a:t>
            </a:r>
            <a:r>
              <a:rPr lang="en-US" dirty="0" err="1" smtClean="0"/>
              <a:t>Starhub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sz="2000" dirty="0" smtClean="0"/>
              <a:t>Calling Singapore: *108*65&lt;Number&gt;#</a:t>
            </a:r>
          </a:p>
          <a:p>
            <a:pPr marL="0" indent="0">
              <a:buNone/>
            </a:pPr>
            <a:r>
              <a:rPr lang="en-US" sz="2000" dirty="0" smtClean="0"/>
              <a:t>Calling other countries: *108*&lt;Country code&gt;&lt;Area code&gt;&lt;Number&gt;#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dirty="0"/>
              <a:t>-For global roam services for </a:t>
            </a:r>
            <a:r>
              <a:rPr lang="en-US" dirty="0" smtClean="0"/>
              <a:t>M1:</a:t>
            </a:r>
          </a:p>
          <a:p>
            <a:pPr marL="0" indent="0">
              <a:buNone/>
            </a:pPr>
            <a:r>
              <a:rPr lang="en-US" sz="2000" dirty="0"/>
              <a:t>Calling Singapore: *</a:t>
            </a:r>
            <a:r>
              <a:rPr lang="en-US" sz="2000" dirty="0" smtClean="0"/>
              <a:t>138*65&lt;Number</a:t>
            </a:r>
            <a:r>
              <a:rPr lang="en-US" sz="2000" dirty="0"/>
              <a:t>&gt;#</a:t>
            </a:r>
          </a:p>
          <a:p>
            <a:pPr marL="0" indent="0">
              <a:buNone/>
            </a:pPr>
            <a:r>
              <a:rPr lang="en-US" sz="2000" dirty="0"/>
              <a:t>Calling other countries: *</a:t>
            </a:r>
            <a:r>
              <a:rPr lang="en-US" sz="2000" dirty="0" smtClean="0"/>
              <a:t>138</a:t>
            </a:r>
            <a:r>
              <a:rPr lang="en-US" sz="2000" dirty="0"/>
              <a:t>*&lt;Country code&gt;&lt;Area code&gt;&lt;Number</a:t>
            </a:r>
            <a:r>
              <a:rPr lang="en-US" sz="2000" dirty="0" smtClean="0"/>
              <a:t>&gt;#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dirty="0"/>
              <a:t>-For global roam services for </a:t>
            </a:r>
            <a:r>
              <a:rPr lang="en-US" dirty="0" err="1" smtClean="0"/>
              <a:t>Singtel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Calling Singapore: *</a:t>
            </a:r>
            <a:r>
              <a:rPr lang="en-US" sz="2000" dirty="0" smtClean="0"/>
              <a:t>121*65&lt;Number</a:t>
            </a:r>
            <a:r>
              <a:rPr lang="en-US" sz="2000" dirty="0"/>
              <a:t>&gt;#</a:t>
            </a:r>
          </a:p>
          <a:p>
            <a:pPr marL="0" indent="0">
              <a:buNone/>
            </a:pPr>
            <a:r>
              <a:rPr lang="en-US" sz="2000" dirty="0"/>
              <a:t>Calling other countries: *</a:t>
            </a:r>
            <a:r>
              <a:rPr lang="en-US" sz="2000" dirty="0" smtClean="0"/>
              <a:t>121*&lt;</a:t>
            </a:r>
            <a:r>
              <a:rPr lang="en-US" sz="2000" dirty="0"/>
              <a:t>Country code&gt;&lt;Area code&gt;&lt;Number&gt;#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10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CONTACT INFORMATION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Sino-America Tours Corporation (SA Tours)</a:t>
            </a:r>
          </a:p>
          <a:p>
            <a:pPr marL="0" indent="0">
              <a:buNone/>
            </a:pPr>
            <a:r>
              <a:rPr lang="en-US" dirty="0" smtClean="0"/>
              <a:t>-1, Park Road, #04-62, Singapore 059108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Ms</a:t>
            </a:r>
            <a:r>
              <a:rPr lang="en-US" dirty="0" smtClean="0"/>
              <a:t> Bee Ann: Operations Manager, +65 6501 3862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 err="1" smtClean="0"/>
              <a:t>Ms</a:t>
            </a:r>
            <a:r>
              <a:rPr lang="en-US" dirty="0" smtClean="0"/>
              <a:t> Doris: Operations Executive, +65 6501 3958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Singapore Ministry of Foreign Affairs (MFA)</a:t>
            </a:r>
          </a:p>
          <a:p>
            <a:pPr marL="0" indent="0">
              <a:buNone/>
            </a:pPr>
            <a:r>
              <a:rPr lang="en-US" dirty="0" smtClean="0"/>
              <a:t>-Call Centre: 1800 476 8870</a:t>
            </a:r>
          </a:p>
          <a:p>
            <a:pPr marL="0" indent="0">
              <a:buNone/>
            </a:pPr>
            <a:r>
              <a:rPr lang="en-US" dirty="0" smtClean="0"/>
              <a:t>-Main: +6379 8000</a:t>
            </a:r>
          </a:p>
          <a:p>
            <a:pPr marL="0" indent="0">
              <a:buNone/>
            </a:pPr>
            <a:r>
              <a:rPr lang="en-US" dirty="0" smtClean="0"/>
              <a:t>-Duty Office: +65 6379 8855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111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PRE-DEPARTURE BRIEFING – </a:t>
            </a:r>
            <a:r>
              <a:rPr lang="en-US" dirty="0" smtClean="0"/>
              <a:t>KYUSHU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Valerie </a:t>
            </a:r>
            <a:r>
              <a:rPr lang="en-US" dirty="0" err="1" smtClean="0"/>
              <a:t>Goh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2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0: 15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Overnight flight and transit at Incheon Airport, before arriving at Fukuoka</a:t>
            </a:r>
          </a:p>
          <a:p>
            <a:r>
              <a:rPr lang="en-US" dirty="0" smtClean="0"/>
              <a:t>Assemble at </a:t>
            </a:r>
            <a:r>
              <a:rPr lang="en-US" dirty="0" err="1" smtClean="0"/>
              <a:t>Changi</a:t>
            </a:r>
            <a:r>
              <a:rPr lang="en-US" dirty="0" smtClean="0"/>
              <a:t> Airport at 8pm</a:t>
            </a:r>
          </a:p>
          <a:p>
            <a:r>
              <a:rPr lang="en-US" dirty="0" smtClean="0"/>
              <a:t>Expected arrival time in Fukuoka Airport: 9.20am</a:t>
            </a:r>
            <a:endParaRPr lang="en-SG" dirty="0"/>
          </a:p>
        </p:txBody>
      </p:sp>
      <p:pic>
        <p:nvPicPr>
          <p:cNvPr id="3074" name="Picture 2" descr="http://www.latestpilotjobs.com/ckfiles/images/1(2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86" y="3581400"/>
            <a:ext cx="434340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17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1: 16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032" y="1447800"/>
            <a:ext cx="4038600" cy="4718304"/>
          </a:xfrm>
        </p:spPr>
        <p:txBody>
          <a:bodyPr/>
          <a:lstStyle/>
          <a:p>
            <a:r>
              <a:rPr lang="en-US" dirty="0" smtClean="0"/>
              <a:t>Soy Sauce Factory (</a:t>
            </a:r>
            <a:r>
              <a:rPr lang="en-US" dirty="0" err="1" smtClean="0"/>
              <a:t>Marue</a:t>
            </a:r>
            <a:r>
              <a:rPr lang="en-US" dirty="0" smtClean="0"/>
              <a:t> </a:t>
            </a:r>
            <a:r>
              <a:rPr lang="en-US" dirty="0" err="1" smtClean="0"/>
              <a:t>Shoyu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10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5972" y="1295400"/>
            <a:ext cx="4038600" cy="4718304"/>
          </a:xfrm>
        </p:spPr>
        <p:txBody>
          <a:bodyPr/>
          <a:lstStyle/>
          <a:p>
            <a:r>
              <a:rPr lang="en-US" dirty="0" smtClean="0"/>
              <a:t>Asahi Beer Factory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Kewpie Mayonnaise Factory</a:t>
            </a: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11268" name="Picture 4" descr="                                    The Asahi Factory (tours start across the street, though)&#10;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828800"/>
            <a:ext cx="3657600" cy="243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6" descr="data:image/jpeg;base64,/9j/4AAQSkZJRgABAQAAAQABAAD/2wCEAAkGBxQTEhUUEhQWFhUXFxgYGBYWFx8bGBgXHRwYGRsXHh0ZHCggGB8nGxkYIjEiJyksLi4uFx8zODMsNygtLisBCgoKDg0OGxAQGywkHyYsLiwsNCwsLCwsLywsLCwsLDQsLCwsLCwvLC00LCwsNCwsLCwsLCwsLDQsLCwsLSw0LP/AABEIAOEA4QMBEQACEQEDEQH/xAAbAAEAAgMBAQAAAAAAAAAAAAAABQYCAwQBB//EAEEQAAEEAAQDBQQHBwMDBQAAAAEAAgMRBBIhMQVBUQYTImFxFDKBkSNSYnKhscEVM0JDgtHhB6LwJFOSJTSywvH/xAAaAQEAAwEBAQAAAAAAAAAAAAAAAQMEAgUG/8QAOhEAAgECBAIIBQMEAgEFAAAAAAECAxEEEiExQVEFEyIyYXGB8BSRobHRI8HhQlJi8RUzciVDY4Ki/9oADAMBAAIRAxEAPwD7igCAIAgCAIDy0By4niUbN3Weg1P4KLk2NGH4u1zqILfMkV16pcg7YsS13uuB8ufyU3B5icUxnvGvzS4OeXijG8nHQHRp56/qFFwa3cWbTvCbb/CSAa6pcGMXFs2zQPvO/sEuDM8ROXNlNdeV2QFJBxv4y/kGj/nqouSYftSU7Zflf6qLkmH7WkHMH4KLsGxvG382t/FTmFj39uP5Nb8T/lLixK4CcvYCavUHKbG/X0pSiDpUgIAgCAIAgCAIAgCAIAgCAICucQncJHZyXNBIyZsoHrQ1FdVyyRiXgsbpQItpBBy8iKoacq8ghBzFzabfImxtfO9Pl8FGhKTN8uLadmeKqt2tVzB978eSXQszCP3s0mvTN/kgUlwZvc1+udrfvVf4AfmVNyLGpk7WkkuBoUA2xm8robKLridWZpgmq6v8fPoVCaDibJpr61/hTc5savmouSZRyFp/vr+aXJseB1n/AB19EuLGRw7vqk87Av8AJNQeEO6EfMba8+aEEz2eeSxwO4d+Y/va6iGSy6ICAIAgCAIAgCAIAgCAIAgCAheIx5Zg6tHN1PQj+L1Gi54knEcPRDS7XUilFuBKV9TY2GJp8bhetgmtQLINapZHeR8DVLhx/LOYWNByvbcbeaW5HSpvjoaHtp1ONEaKDlQZsZg82jSDWunwOvMbpYm1tzTJh3/x6VoL+fJcu50o32NDonAqCHyMmyHmurnOW+xvA03HzCk5ysyjis0ChOVmUsOQWa9b/BTYizehscHFrb0HIHwn1ukIymsXoSXOIOxIP43+iCzJLs+0gv0r3f8A7KYkMmV0QEAQBAEAQBAEAQBAEAQBAEBhIEIZi2Jt3lF9aSwueGJvNrdfIJZE53zBaOgSwuzCSBjhRaD6pZBSa2NUWBY0+EUK5E10KiyOnNvcwOCjqsgroST+ZSyJ6yfMdwwX4W9dksjltmuTDM+o3/xCWRKkzEYdg2Y0egCWJzS5mxkLd8o+SWOczNGIYNBlF3fx2UM6Tuboqrxa+X9lJy9Nj2SAEVX4KSMzNnCqp1Xoas8+f5lQiWd6kgIAgCAIAgCAIAgCAIAgCAIDFyA+fYPtDMMTLi3NPsfe+znfwBu01VtmJs/a+ysiqyUnN929j6OpgaDw8MOn+tlzrxv/AE+drW/ksvajtA3DYfvG0979ImjXM47HTcAa/Lqr6tVQjc8ro/AyxVfq3ol3vBEP2N4tK17sHjL74DOxzt3td4iLGhIv5WP4Sq6M5J5J7m7pTCUpQWKwvcejS4NafX+eJ2dtONmCNsUOuInOSMDcXoX/AA2Hn5ArutUyqy3Zm6LwarzdSppTjrL8GHZLjbpmvhn8OJgOWQH+IbB45a868jsQoo1HK8XuieksFGi1Vpa057eHh7+6OPtjxuVrmYXCWcTJ4vDuxgs89LNc+V9Qua1Rrsx3Zb0Zgqc08RiNKcdPNkxwLiJnjGcBsrQO+jBBMbjsDR0JrNW4Gh1VlOeZePEw4vDqjUag7x/pdt1/G32Kx2o7RTunMeDt3sw72YjYkaGM9RRNgak3XuKmrVea0OGp62A6PoxpdZinbP2Y+vH3t6lm4RxePEQslYdHDUc2uG7TXMH+/NXxmpLMeRisNPD1XSnw+vL5lQ4v2smdMZsK0vwuFIEhHuy5ve+AGx5e9sVnlWea8dke3hujaEaSp4h2qVO7zXL58fluXHDcRjkiE7S3uy3NmJqgN76EbELQpJrNwPBqUKlOo6Ul2r2KY3tVK2U4tzJG4QyCFu2wP7wgjM03mN637vmsvXPNnt2dj3v+MpOmsMmuttmf4vs+H3L0MUC0ODxRAILdbB1FeoWy/E+ccWnZrU7OED6MGqzEn8a/IIiHudqkgIAgCAIAgCAIAgCAIAgCAIAgOV2GYGOYWtyODsza0IdZdfqSfmoyq1jvrJ5lK+qtb02Pm3Y6GOXGNY6Rzo8MZDhgf4gXEX5gUD8BWgpYqKTna+i2Pq+lJzpYVzUbSqWz24afuWL/AFAwTTCMSH93NhyHMf11H0fxO3n5Eq/ER0zcUeT0NXkqvUNZoT0a/f04/wCjg7Cs9qllx0zmvmvu2tG0Ta6Ha7NanS+ZK4oLO3N7mrpd/DU44SkrQ3b/ALvf4Mu32H7h0ePic1kzHBjgdpWnTKetC7+zfQKa6ytVFucdDz69SwdRXg03/wCL5+v3NnYHB5mPxjnB887nW4fy237nkbAvyDRyU0FftvdnHTNXLKOFgrQgl6vn78eZHdtJv2c8y4bK2TEghw6EWXSAdS5zdeRbscxXFb9OV48TR0XD4+CpVr5aeq9dEm/Cz9PImOyPDY8Ph2Bjg8yASPku87iNweg2H/6raMFGOnE8/pPETr15ZlZR0S2sikdpgcJiJYcPMGRYgNMjdfobOv3RXTXKa6LLUXVyai9/oe90fbF0Y1a0Lyhez/ut9/z6n0XhfDIoIGwxgGMNrWjnvdx5HN+q2QgoxyrY+YxGIqVqzqz732tw9D5pjo2x4l/D2YjLhHzNLvsE6mO/IgDpYF7FYmssnTvpc+qoydTDxxsqd6sYu3jydvfgfTHYKPuu57tvdZcuQi25fj876rblVsttD5Lr6nW9bmea97lW7J8Tts8Ya0wwvcI5WWA/xE5QCSKAqqoD5KijLePBHp9J0VHq6rdpyV2uWnP8n0fBxZWNb0AHxWpHiM3KQEAQBAEAQBAEAQBAEAQBAEAQEJ2za84LEd24Nd3btTpTf4teXhvVV1r5HY29HOCxVNzV1mX8fUjuIcKMOHidhCWyYdoy1qJY9C9rhfivVw8/VVyp5Ypw4Gmji1WryjiNYzevg+DXK23kQ2ExbuLTxktLcLDTpG3YfLQOXTcb/C+oXCbrSXJG+pSj0TSlZ3qz0XhHn74+Rv47hzgcUMbCD3LyGYmMbCzpIB618fvFTNOnPPHbiU4Oqsbh3hKj7S1g39vfDyNXCojxHE+1SisLC4tgjd/G4bvI9QCfgORtH9WWZ7I7xEl0dh/h4P8AUlrJrguCv74vij1sg4ZiXmneyTmxW0UmuYVVnSq8j9lR/wBM/BjK+k8Olp1sNNf6o8PfPzNfB8CMTNLjMSA9r80cLD7oiFtLhfIjY+ZPNILrG5y9Bi63w1KOFo6NWcnxzb29OPy4ETFxd/C3SwPaZIiC/DHzJ9w+V7+Y+0uFN0W4vbgap4aHScY1otKSsp/n3+xN8A7MA4eU4wZpsV4pSd2C8zWjoQaPqANgrIUbxbnuzz8Z0i41oxw+kKe3jzfr+eZBx8dxGDjfgS0vnaQzDPGxY/Rp16cvlyVaqSgnB78DfLBUMZOOLTtB6zXJrf5+9yaw3Y+MYJ2HkNyP8b5dyJeRB5gajzBPVWqgsmV7/uefU6WqfFqtDurRL/EgG8Yxc0X7PojEglkst3UIq3dSaIF8xXXSrPOUVT4m6WGwtKp8be9PdKz73L5lmwfD2xCKCMUwFoAO7jYtxrmTZV6iopRR4VevKvOVWe7+ngi+K8xhAEAQBAEAQBAEAQBAEAQBAEAQGnGQCRjmHZzS0+hFKGrqx1CbhJSW6dyicdc6HNhIMxM8bRh23eR2ciUA8mBlEA7AEDRZqjcexHitD28FCNa2JqW7D7b5q3Zv4t6fLib5Z/2diy6Rz3wYnI3MayxyN0JIFBoI10HXon/VPXVMRiukMNlgkqkLu3FxfK97v3xPOOYz2zEexRWWDxTvaaaBybYu6NaaWfIFTUlnl1a24k4Sj8JR+MqaP+hPf348F6GvgWJ9jxLsBJ7jrdh3nYg6llnnZP8AVf1gohLJLq36HWMprGUFjId5aTX7++FuRw8XkPEsQcPG4twsBJkkGueWiAByNbDyDj0XMn1ssq2RfhrdHUFXmr1J91co+/2XMdm+Lujz4TFODZIB4Xk6PiGoIJ3pv4eYKUp27Mt0cY/DRqJYmgrxnuuKl/LI2Ph7+JmSdznRxNDmYYbW4EHOfKxrWuv2deFF1ryv5Gh14dGqNNJOTs5+XJEpwrtblgkGLOWbDjLI06OkOzSBzJO/z2KshW7LzboxYnotyrReHV4T28OLv5Eazs/PionYx73NxTiHwNBoMa3VrddieXwJ3K46uU05vfgaXjaGFqLCxV6a0m+be/v8Haztsz2QPLbxN933NHMZdry75b19fDuu/iFkvxM0uhp/E5E/0983DL58/wDZHT9mp4Im4prnOxjHGWXWw8H3mUNyB8/F5Kt0pRjm4mmPSVGtVeGatSayrw8ffgWjsvxRmJfDI3Z1nLdlrg02D6H56FaKc82p4mLw08PJ05fPmuZeVeYggCAIAgCAIAgCAIAgCAIAgCAIDwoD58eJAYt+KcKhhlMDpXHwhrgyOmekvic7pp6ZHO1TNwTPfjh28NGgn2prMore6u9fNaJczr/1Bxze5GGDRJNiCGxs5g3+88qO3n5AruvJZcvFlPQ1GTrde3lhDVv9vU4ew0ns75cFM0MnBzhw2lZWlHyAOnS+YK4odluD3NPS6eIhDFUneG1v7X/PvSxh2+kE7ocJG0PxDnZwbrum8yTysfgL6JXeZqC3J6Hi6KniZu1NKz/yfh5e+Js7B4hghdh8gZNC4iVp3cdu8+Og8qHKlNCSs4rc46YhN1VWzXjJdl8vD9yH7bx+14hsGHjDpYmPMjxpQqxH0Jv8XV1VdbtytFao29Ey+EoOtWlaMmrL9/fAsfZPijJ8Mzu2hmQBjo/qOA215He/XnauoyUo6Hk9JYadGu87vfVPmim8dY7GTS4mCJj4sNlBJF99lNu+8A3/AG+oCzVO23JLRHt4OUcHRhQqyac72/xvt758i74bj0MmH9pBqMNJde7SN2+ZB089K3WtVIuObgfO1cFVp1+oavK9l4+JQzJKJP2oI2ZDIT3VDMIyMvenz8+uuyyap9bY+g/S6v8A45zd7b8L729+RaeM8dY2FjoCZZZ9IG/WcdLo7BpOt89FonUSjpu9jxcNgZyrONRWjHvPkl+Tf2C4R7PKGE5n5XPkINjOaBryGyUYZd9zjpHF/ESzRVorReSPoC0nmBAEAQBAEAQBAEAQBAEAQBAEAQAoCj4iODD4fFQz/uWjPXMiSxQv+LvWurpmCzNRjGSltuevSlXr1qVSl3729Y8/C32IT/TyP6dxxOf2nuWd13n/AGaq23z5eQ+Krw/e7W9tD1Om5fopULdXmea393j4e+RKf6iRRiKObMWYiN7e4LdXON2WVzFa+VedGzEJJKXHgYehZTdWVK14SXavsvHz4ePoc/8Ap+xj2zTvcX4l7yJswpzBZptcgav4V/DS5oJO8nuW9NOUHCjFWppLLbZ89ffPic3bwiCaGeBxbijbcrRZfHR8RHlttr/TpzX7MlKO5b0PetSnRqq9Pe70s/fvUkOxOFibhWvicHuk8Ujz7xfrbTzGUk/O+a6opKN1xMvS1WpLEOE1ZR0iuFv5Kt2xqHFSezveDJETimxjQNJFnoCQb5VY18RVNXsyeX1PU6MTrYePXJWi+xfnr7/0XbgmEgbBGIC4xZbbrV3qSfO9/NaYKKirbHz2LnWlWk63evqfOsZ3AxRlYx5wDZ2B9fu89b1zbevppzCyyy5v8bn0tJVHhlCTXXOLtfe35PpmMx0ccTpHlvdBtk0CC07AdbsADna2txUb8D5OnSqTqqnFPNe3r/B807P/APTzxzSwlkc4eMOXOvu7Om/UaWfrWsVPsyTa0ex9R0hJ16EqUJ3lG2e3HQ+mdkmHvXk8mgfM/wCFtp7nylV6FrVpSEAQBAEAQBAEAQBAEAQBAEAQBAeFAfOe12STFxMkaTFE7NiDemR72iMOGxbn1PQWslazkk9lv5H0HRmanQnOD7UtIeaTbt42+rRKdteHZovaGOEc+GuRjzoKGroz5Hauprmu60brMtGjL0XXy1Opks0J6NefHzRD9mWniGIOMny5YiGRQg2GuoOLyD62PP7oVdO9SWd8Njfj7YCj8LSveWspc1tb3w8zb2qgOEmGPgoWQyeMmhIDQDvX/B62qLJLPH1K+jpxxdP4Kr4uL5fx/o29j8AZS7HzkOllvuxuI49qHQ7jyHmSlKN3nkc9JV1SisHSVox35t/j3yIrjbncLmdJBlMOIDj3ROjJQPeA6Wf06KuX6UtNmbMJGPSVJU6t80La84+Pj/smuzXBRFCXSESSzjNK8+IOzC8t820fjZVlOFlrxPO6Qxjq1VGCyxhpFbWtx8ym8Uc/CSyYGKdrYZnNNuJuAOPibY2sb+VbWSqZXi3C57FCMcVTji6kG5RT/wDtbYvUXCIWwezBv0WUtIPO93E/WvW+Rpa1CKjl4Hzc8XVlW69vtXv/AB5eBQOEVNPHgpJs+FjkeY9DUxb7rL6fhvW4WSHaag3ofS4m9KjLFQhao0r/AON93b39GWnt01jsI8PHTIBv3mzA346elrRWtlPn+jpTWIi4evlxv73J/sBhnthJkOZ1Ma49XNGvrvurKK0MuLlGVR5FZXZa1cZggCAIAgCAIAgCAIAgCAIAgCAIDwoCs4rCsdisQyRoLZ42g9S1oyuH+8EfFUNLO0+KN0Kko0oyi+67/P8A0VGDvsdI3BSPBiwxPfyNP77K7Kz0NCjvRs7gLOs1R5Hstz3JdVgqbxcF26ndT/putffKyJHjOEOBmGMw7foTTMTE3YNGgkHSv+blWTj1cs8duJlwtVY6k8LWfa1cG+fFevvZGrCt/aWJ714PscB+ja4V3snNxHQdPQc3Lm7qyvwRZN/8dh+ri/1Z7v8AtXL3+yMe8/Zc7gQ44KclzaFmKWvd6mwPlX1Tca0peDJyrpOirW66Gn/lH39fM94Pww4xz8Xi2eGRpZDEf4ItRm9TyPqelRCLn2pehzisQsHFYbDvVayfN8vT+OZHN4lNw7PhXNMoIvCO62aDD6E7dfIhcqUqd4v0NEqFLpHLiIvK/wD3F9brz+3kSeA7Ks9mkjxPjlmOaWTmH7ij9k/A68jSsjSWW0tzBX6Tl18ZUdIw0iuFuN/MgWYzFO/9MJAkDsjpr/kZbr1yn1rTqVwnN/p+7HoOjhl/6hbs2uo/5X+30uWLi3ZmJ+FbBH4DFrE/m1+5cT58z8eSunSi4WXA8nD9JVIYh1p65tJLmny8uH8lX4XxB+Oex0xbWHaDlBBzymx3prTSvS/VVRk6jV+B6OMoQwUGqSfbe/JcvU+s9nIcuHZ9q3fM/wBqW2Gx83U7xJro4CAIAgCAIAgCAIAgCAIAgCAIAgCApX+oeJdA3vozUgDQzprnY7/a8n1a08lmxDyrMtz1uiaca1Xq5rs63+jX1VvVkdPwH2GKGfDDM+AHvq/nxOoyepG7egHkq3T6uKlHdfU1xx3xlWdGvpGfd/xa0j89mYcX4oeIPZhcI4905ofPKOUZ17v15EddNgUnPrHljtxOsNhfgIvEYhdpaQXN8/x8+QwUh4biBA8k4SZxML3H90/mxx5Ann6H61Qr0pWezFVLpGj10V+rFdpL+pcGl4e+BrxF8TxBYHFuDgJDnN3llo7eQux5feFQ31srcEdU7dG0VNq9Weyeyj4+J7wjjBwhfhcY6u6bmilP8yPcN8yNgPhyFoTcezL0IxWEWLSxGGXe7y5P8f7ObD8GdxBsmJxBcwyNrDNB/dsu2vI52f1PMVCg56s7qYuOAcaFJXs+34vka4+1UsULoJGF2NY4RMbRIkJ92S+dDXz06mpVVxWV7kT6Mp1aqrU3+i9X4c172NkvY5ww4c159ta7vu9vV0m5js8unn5FT1PZv/VuVrpaLr5Wv0WstvDn5nNLxyXHNZhog6ORwPtTqoRtaacB94jb4dUdR1Eor1OlgqeCk8RN5oruLm3rr5fye8d4SyB0EuHAaWFsRZ9dh8Otbu535eSSgotNGeji5Vozp1ne95X5NfsfVeHx5Yo29GNHyAW1bHiPc6FJAQBAEAQBAEAQBAEAQBAEAQBAEAQFf7RRXPhi5oLAZLv6xblb8w5w+Sqqbo14d2pzs9dPvd/YquN4xLh2ewxBzsTm7uFx/wCy4EtkJIq2i2a/UsrO5uCyLfgevRwlPET+LqNKna8//Jbr13052MeExHhkrYpXB0GIyjvarJOBRafsnl8+qiKdJ2ez+53iJrpOm501acL6c4+HivfA3drsQcTI3AQgFxIfM8ixC0UR8fx2H8Wk1ZZnkj6lfRsFh4PGVdEtIr+5vT3/AAZdksUYHHATANkZbo3AUJYySc33tz8DzaVFN5XkZHSNNV4rGUtYvSS/tf498SN4xC7iczmQkNhw4cBKReeVw90H6un68wuX+o9OBpw049G0lKprOdtL7R8fE7+EdpmiGT2r6OXDipW7Zq0BaNtdBQ5+RC6hU01MuK6Ol1sXQ7UZ918vMhncKxU7TjwcmItr4YuQiF031LT8f6tOMsms/E1/FYag1g3rDaT/AMnxRJYjti12GY6Bt4mQ922Hctk2JN8huL3081a63ZutzFHomUcQ41HanHVy5r8kViOES4AMxUbjI8X7U29H5jZI9Cd/j1Vbg6dpL1NMcZSxreHkssf6Hyt+f4OvD4r2qcSNvuWaMsVnkdVur7IOX1JXaeaV+Bgq03hqeSXfe/guHz3Pq7RS2nkHqAIAgCAIAgCAIAgCAIAgCAIAgCAICF7Uj6Emw0gFwcdgW+ME+VtCqq900YV/qLS/D56FGwLJSDxU2Xlxd3Q1AwmrS0faAGb+nzKyrN/2+7Hv1XST/wCOW1rX/wDk3v5cCT7acSidhhE1omfiQO5YNbvUSeVcvPTa1ZVknGy1uZOi8NVjiOsbyqHef3XqcnYsDDyy4WdobiCQ/PdiZlaZSd8uunrzBXFLstxe5o6UbxFOGIpO9NaW2yvxXia+2gGJmiw0DQ7ENt5fdCJle6SNrsaenVRV7TSW5PRbeHpyr1Xam9Lc35Hd2MxrDB3IZ3UkPhkjOhDrNv15E3Z5HTopptWsUdKUpqr1reaMtU/29Ct8Zw78bLJicPGxzIMoBcP/AHDmnMQPrCtPMac9K5dttpbHpYWcMFTjRrSac/8A8328i0RdpYXYU4ommNHib/EH/wDbrre3lqrlUWXMzxanR9aOI6hat7Pg1zKlFFPA9vEnxtqRzjJE1vijjfVPF7H++u5qpKUe20evOVCtF4CMndLRvZtcPf7E1x3iveBkOGcC+dt5xqI4T7zz0J2A6qyc76R4nlYbDdW5Va60g9ucuXvgc3ZrBGHGNhbZicWvZe7cpbmB9Upq0rDFVlXo9ZLvLR/sfWQtp44QBAEAQBAEAQBAEAQBAEAQBAEAQBAQPbLhXtMHd5i23tsjm26c34tJCprQzxsa8FiPh6vWWvo/nw+TIPE8RjwQm7wAREGSJgGhdoHwj1dTv63dCqW1TvfY106E8a4qHe2b8N1L029EQPY7C9xiWnEx5Hzxk4ckkhgtxMNH3HZSKHTTclVUkoyV1vser0nV66g40ZXUH2+b4ZvFe+BJ9vyzJFV+094PZ8nv3Yv+nb415qytbTmZOh8+eSf/AF2ee+3h6mPYQsyTXm9p7w+0Z/fuzX9O/wAbUU7a8yel8+aDX/XbsW2/2RPbSPvMSW4UOM7Ynd+YzQ7uhTXdTXLpWh0quprLs7mzoyXV0L12sjay35+Hh72LN2cxULsKx0Hhja2qO7CBbsx68yee6tg1l0PIx1OtHESVXWT+vkUXE5XTnGthJwQnGYXo91Fply9MxuvOuZVGl81tLnvwzRorCyn+s46eC5X5296Iu3G+LRR4cympGPbTGjUSlw0aOt/3Wmc0o3Pm8PhatSuqa0aevC1t36FM4Ux2BkAna1rJ2jxj+W4We7PkL/XkqY9h68T1sXOONg+qbbg9ua5lo7GtMmIbKbGcktB3EbQ7L6Xq7+odFfSXauePirQXVrhv58flsfRgtRgCAIAgCAIAgCAIAgCAIAgCAIAgCAIDRjW2x3pfy1US2JW5XeKQwuEYny6SsLM2gMmuUa7k9Oazzyu1zZh51YuXVX2d7cuJhx3hTcTCYycrrzRv5skGzh+vqonDOrHeDxLw1RTWq2a5riiJ7O8IlMhxWNN4gjIxulRtGlitLdqfQ3zK4hF3zS3N2OxdJU1h8NpDd+Lev02HaPhMmcYrCaYhoyuHKRm1EHSxp615BROLvmW5GBxVPK8PiO49fJnZ2f4OMNHROaV5zSyc3P336CzXx6pGOUoxuLeInorRWkVyX8kNxTss90x7h/dwTn/qGA1trbR9rb1PMaLl09dNnubcP0nBUl1sbzh3H+fL7eJY24VjYxEGjuw3Lk5ZaqlekrWPIlVnKfWN9q97+JV8B2Y7qbM55fDEScOwm8pdqSfMcuu6pVOz124HpYjpLrKVoq05aTfO35OvimHbK0skGZpo15j/AJ+K6ep59KpKlLNB2ZLdlm3iB5Mcf/iP1VtLcz1Ni5rQUhAEAQBAEAQBAEAQBAEAQBAEAQBAEB44XogKT2xpuEe6vEx0Zb98SMr8VkraQuep0Ys2JjHg7p+WV3IDC4uePCd4JjHJ7Y5s5eA9sZc4scyiaDQS12hG6pTcY3T4nqTpUZYnI43j1ay20bsr3v4knxjiWJgwr5u8gmLXM1YwhuQmjYDzrqDoV3KUlG97mPD4fD18RGlllG6e748OBlNx5wx0UAA7p8bSXVr3jw9zRd7ZWjTzUZ+2lwEMDF4SdV95N/JWT+5FYntLP7LPO0sGXEd3F4P4M1WddTr+C5zyytmqHR9D4inSd9YXlrxsdGH4pOzFNhkmjmD4nPJYwNMZAJF0T059VKk07XuVVMNQnhnVhBxtJLV3uRsnH5zw+GYy5ZHzZXPyt0ZbxtVaAfguc7yJ3NHwNBY6dJRvFRulrvYluGztdnLcW7E1QJIADd9srRv+isi99bnmYqEo5VKkofPX5tm12qkxkx2QZ9K89GV8yP7K6luV1Ni2q8pCAIAgCAIAgCAIAgCAIAgCAIAgCAIAgKTj8THJDGJGZ2yTRtIzFuV1k57HIFt10WSbTWvM9DBqam5Qdmot8/C3rci8dhe9jkdA5rhPOyfunkMce6IEoGbey1vzVcle7XF3+R6NKr1U4xqprJFxurvvd37s6xhGywYiNuGdh84dbS1oDnkHxDISDRAU2umrWM8qsqdaFR1VOz8dF6lew3CcT7P3rond/HLhyxljMWxMDDzrW3H4KvK7Xa10PTqYrDdd1aksjjK74dp3/ZHRi+CyjhjIWscZS5r3M0sEvLnX6WB8FLi1BJFNPGU30g6sn2bNJ+ll8ywQ8Nhia7uYmMJaR4RROm1+q7SSWiPMqYmrVkusk3qVQcJmGCw8OVhlim7x7C9opoc92p87CrytRSPWeLpPF1Kt3llHKnZ72SJzC4t8tl7Ym0ayxyd5XqQAB6Ky7e549anCnbK5PzVja8Dnf5IZ2WDsjDpI/qQ0D01P5rRRXEqqMsSuKwgCAIAgCAIAgCAIAgCAIAgCAIAgCAIClwYVjmGOQW035UdW2CNjROqw3WZqRrhUnBqUHqaZ+BDOHtfYadGOALcjnPdI2wL8QkcNPqtvZT1et0a447suMlvxW90ll+VjlHC5GhpfmmAe/OzvNXMAyQ7loOVgBLSRbnE6lc5OZb8TCTajaOis7bPeXN6vjystjS/heIy21xzCGRrWmTTxPeRGT1DC2n9WDkoyyO1iaGazWmZNu3JbrzfDkz2bAYgOLgSWmaAuaX7MYIiXN101D2kc7B5axla1IWIoOKTWqUracXfR/Rrkc/7PxB74uLfphbhmJyuDwW1pWjPCa+qEsyPiqKUEk+z4JXVtfHfU8xHB3OMmrWh4mGoDj9JdkEgOb5jMRpWgTKcRxiio6N2y8bbfT6HXhGd22nPB16np9pzv+clKsuJlrT6x3S9/JCWUE6G1DqLgVWfEtXY8fQk9Xn8gtlHulFTcnVacBAEAQBAEAQBAEAQBAEAQBAEAQBAEAQFSy0XfeP5leXV7zNMdjLJ0seiqzNbM6MXB31vwH9l110+YyoxzO+t+ATrp8ycqMJHuPP8ABOumMiOdxPU/89Fw6knxJsjU4WubsGt7AhJzkLuJDLl2UH0H9Tv0XqUe4ZZ94mVacBAEAQBAEAQBAEAQBAEAQBAEAQBAEAQFUk9533nfmV5dXvM0x2PbVJ2YuKgEdiZJHhwiLRRy2dzXvVocvqQdRsuNzTBU4WdS74/j39TFkrmlrZKJOzm6CxrRB8r+R2U7HMlGSco305mbihUYoDW9SgaOasiQy69mm1A3zLvzI/RepS7iMk9yUVhyEAQBAEAQBAEAQBAEAQBAEAQBAEAQBAVOc+N/3j+a8ut32aYbHlqg7I/HY1zHAACquyavWso5DrZ/yuW9TTRoxnG7IuN0mjfG3J4gGgFpaSQGuIvNtuNT5KDVLq+87O+jve9+aRre995TndTmvOYVQvQNJ2AINk77VqpsLQtfRaW0+7R14PGF5IIFAAgtNjW/CbG4pSZatJQSafHidJehQYPcukgambqyO5yy88AH/Tx+hPzcSvSp91GWW5IKw5CAIAgCAIAgCAIAgCAIAgCAIAgCAIAgKhOfG/7zvzXl1++zTDY8BVB2eOKMHBhA0d5VDxm68gK/Cj8Vyi+o21FeBqxrGl8ZIB1I+GUn82hSTTbUZW96mTyhUayQNzXqpJUW9jwyA2ARY38lKIcWtWjFisicMv8AwplQxj7DfyXqRVkjI9zrXRAQBAEAQBAEAQBAEAQBAEAQBAEAQBAEBS5n/SP+878yvOxC1uaIbHmdZSywc5ARWMble5wJaXNJsfWaOYOh0r/xXLNdOWaCT1s/o/5NUVd5mc4nK0CzW7qJoAUNAPmp4id8mWK3f2NeNheZGubdVW/hGps1d3R/BLHVGcFBqRoZgHEa0NKIu+QBd66FdJHTxEVt+DfhMP3ea3XZv0/VdaIz1qvWNaG4O36LuGrKGfReHvuNhHNjfyC9SOxke50KSAgCAIAgCAIAgCAIAgCAIAgCAIAgOPi2ILInObd7CuV81D2JRWzxicGnPocyA1xr5Uq8zOrI46y2DrvqOdLNWiWw3OPiOIeYnGDV41qgTQ3FEhYtzdQpx6xKrojjHFJBmaWeINvYjWiTeboa90ncKLM0PDU9GpaXtz+Vv3Od3ETJG5xYCGtJBDjQ+sC5uoPlSWOuoVOoop7va2vyen1OJvEKyh0YGa3W57uQNG3N2pvyOymxdKhe7UnpyS/J0Q8Wc+OwBd1epYfQgWSeQpTZlM8JGE7N6eifyJPDSEsBdQJAJrz5arq1jDVilJpHpHRRYrMXOFEHmtFNaXK5F+7PvvDxeTa+RLf0W+HdRmluSK6ICAIAgCAIAgCAIAgCAIAgCAIAgCA8IQENxLgTXWY6aeh90/LZcOF9iUyDlw72GnjKfwPmOqolFnaaNPdA7jVYpxszTGbRrdh/tO56Xty0XFjvrPBGmXD+Z/X8tUsFU1NDsHsb1A3IBKg7612sZDDVrdDoAF2lzOXUT4GBhbzBPqU0GeR4+cNG2ilS4HDV9WzZgsK6V2jQBRNk7Ba4Ioky6dliPZxlvKHOAverv9Vpp90qnuS67OQgCAIAgCAIAgCAIAgCAIAgCAIAgCAIDGSMOFEAjoUsCIxfZ2N2rC6M/ZNj5FUzoRkWRqNHG/gEo2ex3rbT+AKoeFa2Z31qOc8Hmv3Pk4fqQuHh53JVSJqPCpR/Ld8K/uufh58iesjzNT+GzcoXfMf3U9RLkOsjzMW8JnO8eX8V2qD5EdYjZH2deSLYSerqAC7jRa4HLqXJiLgGmUuytO4bu4dCeQ9FcqZxmJqKINFNAA6BWpWODNAEAQBAEAQBAEAQBAEAQBAEAQBAEAQBAEAQHhQBQQEZJ4oAKlgNRAyUgIAgCAIAgCAIAgCAIAgP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1272" name="Picture 8" descr="http://pdxmim.files.wordpress.com/2010/02/kewpie-mayonnais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800600"/>
            <a:ext cx="191452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magi plan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2" y="2514600"/>
            <a:ext cx="2458358" cy="174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marue-shoyu.co.jp/gthum.php?max_width=130&amp;max_height=100&amp;path=./img/goods_img/s13-1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95800"/>
            <a:ext cx="2106300" cy="157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25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2: 17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24000"/>
            <a:ext cx="4648200" cy="4718304"/>
          </a:xfrm>
        </p:spPr>
        <p:txBody>
          <a:bodyPr>
            <a:normAutofit/>
          </a:bodyPr>
          <a:lstStyle/>
          <a:p>
            <a:pPr latinLnBrk="1"/>
            <a:endParaRPr lang="en-US" dirty="0" smtClean="0"/>
          </a:p>
          <a:p>
            <a:pPr latinLnBrk="1"/>
            <a:r>
              <a:rPr lang="en-US" dirty="0" smtClean="0"/>
              <a:t>Visit to Kyushu University</a:t>
            </a: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4419600" cy="4718304"/>
          </a:xfrm>
        </p:spPr>
        <p:txBody>
          <a:bodyPr/>
          <a:lstStyle/>
          <a:p>
            <a:r>
              <a:rPr lang="en-US" dirty="0" smtClean="0"/>
              <a:t>Vinegar Factory Visit</a:t>
            </a:r>
          </a:p>
          <a:p>
            <a:r>
              <a:rPr lang="en-US" dirty="0" smtClean="0"/>
              <a:t>Atomic Bomb Museum and Peace Park</a:t>
            </a:r>
            <a:endParaRPr lang="en-SG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7170" name="Picture 2" descr="http://static.panoramio.com/photos/large/2620582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12621"/>
            <a:ext cx="39116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agasakigenbak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200400"/>
            <a:ext cx="3911598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97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153400" cy="4032250"/>
          </a:xfrm>
        </p:spPr>
        <p:txBody>
          <a:bodyPr/>
          <a:lstStyle/>
          <a:p>
            <a:pPr eaLnBrk="1" hangingPunct="1"/>
            <a:r>
              <a:rPr lang="en-US" altLang="ja-JP" sz="2000" b="1" dirty="0" smtClean="0">
                <a:cs typeface="Arial" pitchFamily="34" charset="0"/>
              </a:rPr>
              <a:t>TIME</a:t>
            </a:r>
            <a:endParaRPr lang="en-US" altLang="ja-JP" sz="2000" dirty="0" smtClean="0"/>
          </a:p>
          <a:p>
            <a:pPr eaLnBrk="1" hangingPunct="1"/>
            <a:r>
              <a:rPr lang="en-US" altLang="ja-JP" sz="1800" dirty="0" smtClean="0"/>
              <a:t>9:00		Meeting point at Center 1 building</a:t>
            </a:r>
          </a:p>
          <a:p>
            <a:pPr eaLnBrk="1" hangingPunct="1"/>
            <a:endParaRPr lang="en-US" altLang="ja-JP" sz="1800" dirty="0" smtClean="0"/>
          </a:p>
          <a:p>
            <a:pPr eaLnBrk="1" hangingPunct="1"/>
            <a:r>
              <a:rPr lang="en-US" altLang="ja-JP" sz="1800" dirty="0" smtClean="0"/>
              <a:t>9:20-10:10	Introduction of KU and 21</a:t>
            </a:r>
            <a:r>
              <a:rPr lang="en-US" altLang="ja-JP" sz="1800" baseline="30000" dirty="0" smtClean="0"/>
              <a:t>st</a:t>
            </a:r>
            <a:r>
              <a:rPr lang="en-US" altLang="ja-JP" sz="1800" dirty="0" smtClean="0"/>
              <a:t> Century Program</a:t>
            </a:r>
          </a:p>
          <a:p>
            <a:pPr eaLnBrk="1" hangingPunct="1"/>
            <a:r>
              <a:rPr lang="en-US" altLang="ja-JP" sz="1800" dirty="0" smtClean="0"/>
              <a:t>			</a:t>
            </a:r>
            <a:endParaRPr lang="en-US" altLang="ja-JP" sz="1600" dirty="0" smtClean="0">
              <a:solidFill>
                <a:schemeClr val="bg2"/>
              </a:solidFill>
            </a:endParaRPr>
          </a:p>
          <a:p>
            <a:pPr eaLnBrk="1" hangingPunct="1"/>
            <a:r>
              <a:rPr lang="en-US" altLang="ja-JP" sz="1800" dirty="0" smtClean="0"/>
              <a:t>10:20-11:10	Introduction of NTU and CN Yang Scholar</a:t>
            </a:r>
            <a:r>
              <a:rPr lang="en-US" altLang="ja-JP" sz="1800" dirty="0"/>
              <a:t>s</a:t>
            </a:r>
            <a:r>
              <a:rPr lang="en-US" altLang="ja-JP" sz="1800" dirty="0" smtClean="0"/>
              <a:t> </a:t>
            </a:r>
            <a:r>
              <a:rPr lang="en-US" altLang="ja-JP" sz="1800" dirty="0" err="1" smtClean="0"/>
              <a:t>Programme</a:t>
            </a:r>
            <a:endParaRPr lang="en-US" altLang="ja-JP" sz="1800" dirty="0" smtClean="0"/>
          </a:p>
          <a:p>
            <a:pPr eaLnBrk="1" hangingPunct="1"/>
            <a:endParaRPr lang="en-US" altLang="ja-JP" sz="1800" dirty="0" smtClean="0"/>
          </a:p>
          <a:p>
            <a:pPr eaLnBrk="1" hangingPunct="1"/>
            <a:r>
              <a:rPr lang="en-US" altLang="ja-JP" sz="1800" dirty="0" smtClean="0"/>
              <a:t>11:00-12:00	</a:t>
            </a:r>
            <a:r>
              <a:rPr lang="en-US" altLang="ja-JP" sz="1800" dirty="0" err="1" smtClean="0"/>
              <a:t>Phototaking</a:t>
            </a:r>
            <a:r>
              <a:rPr lang="en-US" altLang="ja-JP" sz="1800" dirty="0" smtClean="0"/>
              <a:t> and Lunch</a:t>
            </a:r>
          </a:p>
          <a:p>
            <a:pPr eaLnBrk="1" hangingPunct="1"/>
            <a:endParaRPr lang="en-US" altLang="ja-JP" sz="1800" dirty="0" smtClean="0"/>
          </a:p>
          <a:p>
            <a:pPr eaLnBrk="1" hangingPunct="1"/>
            <a:r>
              <a:rPr lang="en-US" altLang="ja-JP" sz="1800" dirty="0" smtClean="0"/>
              <a:t>12:00-12:40	Mingling session (Quiz Game about Japanese Culture)</a:t>
            </a:r>
          </a:p>
          <a:p>
            <a:pPr eaLnBrk="1" hangingPunct="1"/>
            <a:endParaRPr lang="en-US" altLang="ja-JP" sz="18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KYUSHU UNIVERSITY VISIT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075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3: 18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1257" y="2286000"/>
            <a:ext cx="4038600" cy="4718304"/>
          </a:xfrm>
        </p:spPr>
        <p:txBody>
          <a:bodyPr/>
          <a:lstStyle/>
          <a:p>
            <a:r>
              <a:rPr lang="en-US" dirty="0" smtClean="0"/>
              <a:t>Kumamoto Castle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2286000"/>
            <a:ext cx="4038600" cy="4718304"/>
          </a:xfrm>
        </p:spPr>
        <p:txBody>
          <a:bodyPr/>
          <a:lstStyle/>
          <a:p>
            <a:r>
              <a:rPr lang="en-US" dirty="0" smtClean="0"/>
              <a:t>Mount </a:t>
            </a:r>
            <a:r>
              <a:rPr lang="en-US" dirty="0" err="1" smtClean="0"/>
              <a:t>Aso</a:t>
            </a:r>
            <a:r>
              <a:rPr lang="en-US" dirty="0" smtClean="0"/>
              <a:t> Ropeway</a:t>
            </a:r>
            <a:endParaRPr lang="en-US" dirty="0"/>
          </a:p>
          <a:p>
            <a:endParaRPr lang="en-SG" dirty="0"/>
          </a:p>
        </p:txBody>
      </p:sp>
      <p:pic>
        <p:nvPicPr>
          <p:cNvPr id="8194" name="Picture 2" descr="http://www.visitkumamoto.com/wp-content/uploads/2011/09/Kumamoto-Castle-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7" y="2939440"/>
            <a:ext cx="4188856" cy="279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jtbgenesis.com/pic/tour/141231AsosanRopeway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73530"/>
            <a:ext cx="4264098" cy="283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7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3: 18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4038600" cy="4718304"/>
          </a:xfrm>
        </p:spPr>
        <p:txBody>
          <a:bodyPr/>
          <a:lstStyle/>
          <a:p>
            <a:r>
              <a:rPr lang="en-US" dirty="0" smtClean="0"/>
              <a:t>Soba Making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718304"/>
          </a:xfrm>
        </p:spPr>
        <p:txBody>
          <a:bodyPr/>
          <a:lstStyle/>
          <a:p>
            <a:r>
              <a:rPr lang="en-SG" dirty="0" err="1"/>
              <a:t>Chinoike</a:t>
            </a:r>
            <a:r>
              <a:rPr lang="en-SG" dirty="0"/>
              <a:t> </a:t>
            </a:r>
            <a:r>
              <a:rPr lang="en-SG" dirty="0" err="1"/>
              <a:t>Jigoku</a:t>
            </a:r>
            <a:r>
              <a:rPr lang="en-SG" dirty="0"/>
              <a:t> Hot Spring </a:t>
            </a:r>
          </a:p>
        </p:txBody>
      </p:sp>
      <p:pic>
        <p:nvPicPr>
          <p:cNvPr id="9218" name="Picture 2" descr="soba_1_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35629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oba_2_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4267200"/>
            <a:ext cx="23622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://topyaps.com/wp-content/uploads/2013/09/Blood-Pond-Hot-Spring-Chinoike-Jigoku-Japan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743200"/>
            <a:ext cx="3733800" cy="248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22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4: 19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718304"/>
          </a:xfrm>
        </p:spPr>
        <p:txBody>
          <a:bodyPr>
            <a:normAutofit/>
          </a:bodyPr>
          <a:lstStyle/>
          <a:p>
            <a:pPr latinLnBrk="1"/>
            <a:r>
              <a:rPr lang="en-US" dirty="0" smtClean="0"/>
              <a:t>AIST: </a:t>
            </a:r>
          </a:p>
          <a:p>
            <a:pPr latinLnBrk="1"/>
            <a:r>
              <a:rPr lang="en-US" dirty="0" smtClean="0"/>
              <a:t>Space and Science </a:t>
            </a:r>
            <a:br>
              <a:rPr lang="en-US" dirty="0" smtClean="0"/>
            </a:br>
            <a:r>
              <a:rPr lang="en-US" dirty="0" smtClean="0"/>
              <a:t>Museum</a:t>
            </a:r>
          </a:p>
          <a:p>
            <a:pPr latinLnBrk="1"/>
            <a:endParaRPr lang="en-US" dirty="0"/>
          </a:p>
          <a:p>
            <a:pPr latinLnBrk="1"/>
            <a:endParaRPr lang="en-US" dirty="0" smtClean="0"/>
          </a:p>
          <a:p>
            <a:pPr latinLnBrk="1"/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286250" y="2895600"/>
            <a:ext cx="4038600" cy="4718304"/>
          </a:xfrm>
        </p:spPr>
        <p:txBody>
          <a:bodyPr>
            <a:normAutofit/>
          </a:bodyPr>
          <a:lstStyle/>
          <a:p>
            <a:pPr latinLnBrk="1"/>
            <a:r>
              <a:rPr lang="en-US" dirty="0" err="1" smtClean="0"/>
              <a:t>Genkai</a:t>
            </a:r>
            <a:r>
              <a:rPr lang="en-US" dirty="0" smtClean="0"/>
              <a:t> Energy Park</a:t>
            </a:r>
            <a:endParaRPr lang="en-SG" dirty="0"/>
          </a:p>
          <a:p>
            <a:endParaRPr lang="en-SG" dirty="0"/>
          </a:p>
        </p:txBody>
      </p:sp>
      <p:pic>
        <p:nvPicPr>
          <p:cNvPr id="6148" name="Picture 4" descr="http://www.yobuko-chinzei.com/images/common/spot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505200"/>
            <a:ext cx="42291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3.bp.blogspot.com/-b6daXybWtpg/UFG3NdKmi7I/AAAAAAAAA44/mkTYUAIoVR4/s400/03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43200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4921" y="1295400"/>
            <a:ext cx="69751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/>
              <a:t>Advanced Industrial Science &amp; Technology</a:t>
            </a:r>
          </a:p>
        </p:txBody>
      </p:sp>
    </p:spTree>
    <p:extLst>
      <p:ext uri="{BB962C8B-B14F-4D97-AF65-F5344CB8AC3E}">
        <p14:creationId xmlns:p14="http://schemas.microsoft.com/office/powerpoint/2010/main" val="135787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5: 20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6400"/>
            <a:ext cx="4038600" cy="4718304"/>
          </a:xfrm>
        </p:spPr>
        <p:txBody>
          <a:bodyPr/>
          <a:lstStyle/>
          <a:p>
            <a:r>
              <a:rPr lang="en-US" dirty="0" smtClean="0"/>
              <a:t>Eco Town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5972" y="1295400"/>
            <a:ext cx="4038600" cy="4718304"/>
          </a:xfrm>
        </p:spPr>
        <p:txBody>
          <a:bodyPr/>
          <a:lstStyle/>
          <a:p>
            <a:r>
              <a:rPr lang="en-US" dirty="0" smtClean="0"/>
              <a:t>Tea Cultural Ceremony at Kokura Castle</a:t>
            </a: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5" name="Picture 2" descr="JFS/Eco-Study School Trips in Kitakyushu C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38400"/>
            <a:ext cx="36576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ttp://fukuoka.zimotylife.com/masakondo/PhotoLibrary/pmasakondo32078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09800"/>
            <a:ext cx="3028950" cy="22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ttp://fukuoka.zimotylife.com/masakondo/PhotoLibrary/pmasakondo3207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481513"/>
            <a:ext cx="2895600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7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5: 20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2043" y="1752600"/>
            <a:ext cx="4038600" cy="4718304"/>
          </a:xfrm>
        </p:spPr>
        <p:txBody>
          <a:bodyPr/>
          <a:lstStyle/>
          <a:p>
            <a:r>
              <a:rPr lang="en-US" dirty="0" smtClean="0"/>
              <a:t>Nissan Car Factory Visit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0501" y="1817560"/>
            <a:ext cx="4038600" cy="4718304"/>
          </a:xfrm>
        </p:spPr>
        <p:txBody>
          <a:bodyPr/>
          <a:lstStyle/>
          <a:p>
            <a:r>
              <a:rPr lang="en-US" dirty="0" smtClean="0"/>
              <a:t>Canal City</a:t>
            </a: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438400"/>
            <a:ext cx="362433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0" y="2895600"/>
            <a:ext cx="4003443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291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ITINERARY DAY 6: 21 JUNE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latinLnBrk="1"/>
            <a:r>
              <a:rPr lang="en-US" sz="2800" dirty="0" smtClean="0"/>
              <a:t>Transfer to airport for departure</a:t>
            </a:r>
          </a:p>
          <a:p>
            <a:pPr latinLnBrk="1"/>
            <a:r>
              <a:rPr lang="en-US" sz="2800" dirty="0" smtClean="0"/>
              <a:t>Estimated time of arrival in Singapore: 1930h </a:t>
            </a:r>
            <a:endParaRPr lang="en-SG" sz="2800" dirty="0"/>
          </a:p>
        </p:txBody>
      </p:sp>
      <p:pic>
        <p:nvPicPr>
          <p:cNvPr id="8" name="Picture 2" descr="http://www.latestpilotjobs.com/ckfiles/images/1(2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257" y="3048000"/>
            <a:ext cx="434340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87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GROUPING LIST: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382000" cy="4876800"/>
          </a:xfrm>
        </p:spPr>
        <p:txBody>
          <a:bodyPr/>
          <a:lstStyle/>
          <a:p>
            <a:r>
              <a:rPr lang="en-US" dirty="0" smtClean="0"/>
              <a:t>A: </a:t>
            </a:r>
            <a:r>
              <a:rPr lang="en-US" b="1" dirty="0" smtClean="0"/>
              <a:t>Koon Siang</a:t>
            </a:r>
            <a:r>
              <a:rPr lang="en-US" smtClean="0"/>
              <a:t>, Jedi, </a:t>
            </a:r>
            <a:r>
              <a:rPr lang="en-US" dirty="0" smtClean="0"/>
              <a:t>Samuel, Timothy, Man Ting, Han Lyn, Diego, Marcus, </a:t>
            </a:r>
            <a:r>
              <a:rPr lang="en-US" dirty="0" err="1" smtClean="0"/>
              <a:t>Huiling</a:t>
            </a:r>
            <a:r>
              <a:rPr lang="en-US" dirty="0" smtClean="0"/>
              <a:t>, </a:t>
            </a:r>
            <a:r>
              <a:rPr lang="en-US" dirty="0" err="1" smtClean="0"/>
              <a:t>Jiaxing</a:t>
            </a:r>
            <a:r>
              <a:rPr lang="en-US" dirty="0" smtClean="0"/>
              <a:t>, </a:t>
            </a:r>
            <a:r>
              <a:rPr lang="en-US" dirty="0" err="1" smtClean="0"/>
              <a:t>Ferdian</a:t>
            </a:r>
            <a:r>
              <a:rPr lang="en-US" dirty="0" smtClean="0"/>
              <a:t>, </a:t>
            </a:r>
            <a:r>
              <a:rPr lang="en-US" dirty="0" err="1" smtClean="0"/>
              <a:t>Podianko</a:t>
            </a:r>
            <a:endParaRPr lang="en-US" dirty="0" smtClean="0"/>
          </a:p>
          <a:p>
            <a:r>
              <a:rPr lang="en-US" dirty="0" smtClean="0"/>
              <a:t>B: </a:t>
            </a:r>
            <a:r>
              <a:rPr lang="en-US" b="1" dirty="0" smtClean="0"/>
              <a:t>Valerie</a:t>
            </a:r>
            <a:r>
              <a:rPr lang="en-US" dirty="0" smtClean="0"/>
              <a:t>, </a:t>
            </a:r>
            <a:r>
              <a:rPr lang="en-US" dirty="0" err="1" smtClean="0"/>
              <a:t>Jie</a:t>
            </a:r>
            <a:r>
              <a:rPr lang="en-US" dirty="0" smtClean="0"/>
              <a:t> Ling, </a:t>
            </a:r>
            <a:r>
              <a:rPr lang="en-US" dirty="0" err="1" smtClean="0"/>
              <a:t>Ka</a:t>
            </a:r>
            <a:r>
              <a:rPr lang="en-US" dirty="0" smtClean="0"/>
              <a:t> </a:t>
            </a:r>
            <a:r>
              <a:rPr lang="en-US" dirty="0" err="1" smtClean="0"/>
              <a:t>Wai</a:t>
            </a:r>
            <a:r>
              <a:rPr lang="en-US" dirty="0" smtClean="0"/>
              <a:t>, Qi </a:t>
            </a:r>
            <a:r>
              <a:rPr lang="en-US" dirty="0" err="1" smtClean="0"/>
              <a:t>Hui</a:t>
            </a:r>
            <a:r>
              <a:rPr lang="en-US" dirty="0" smtClean="0"/>
              <a:t>, Gary, Xiao Tong, </a:t>
            </a:r>
            <a:br>
              <a:rPr lang="en-US" dirty="0" smtClean="0"/>
            </a:br>
            <a:r>
              <a:rPr lang="en-US" dirty="0" smtClean="0"/>
              <a:t>Wang Tong</a:t>
            </a:r>
          </a:p>
          <a:p>
            <a:r>
              <a:rPr lang="en-US" dirty="0" smtClean="0"/>
              <a:t>C: </a:t>
            </a:r>
            <a:r>
              <a:rPr lang="en-US" b="1" dirty="0" err="1" smtClean="0"/>
              <a:t>Zenn</a:t>
            </a:r>
            <a:r>
              <a:rPr lang="en-US" dirty="0" smtClean="0"/>
              <a:t>, Qin </a:t>
            </a:r>
            <a:r>
              <a:rPr lang="en-US" dirty="0" err="1" smtClean="0"/>
              <a:t>Hui</a:t>
            </a:r>
            <a:r>
              <a:rPr lang="en-US" dirty="0" smtClean="0"/>
              <a:t>, </a:t>
            </a:r>
            <a:r>
              <a:rPr lang="en-US" dirty="0" err="1" smtClean="0"/>
              <a:t>Hui</a:t>
            </a:r>
            <a:r>
              <a:rPr lang="en-US" dirty="0" smtClean="0"/>
              <a:t> Qin, Deborah, </a:t>
            </a:r>
            <a:r>
              <a:rPr lang="en-US" dirty="0" err="1" smtClean="0"/>
              <a:t>Enya</a:t>
            </a:r>
            <a:r>
              <a:rPr lang="en-US" dirty="0" smtClean="0"/>
              <a:t>, Lim Min, </a:t>
            </a:r>
            <a:r>
              <a:rPr lang="en-US" dirty="0" err="1" smtClean="0"/>
              <a:t>Kashmira</a:t>
            </a:r>
            <a:r>
              <a:rPr lang="en-US" dirty="0" smtClean="0"/>
              <a:t>, </a:t>
            </a:r>
            <a:r>
              <a:rPr lang="en-US" dirty="0" err="1" smtClean="0"/>
              <a:t>Smrithi</a:t>
            </a:r>
            <a:endParaRPr lang="en-US" dirty="0" smtClean="0"/>
          </a:p>
          <a:p>
            <a:r>
              <a:rPr lang="en-US" dirty="0" smtClean="0"/>
              <a:t>D: </a:t>
            </a:r>
            <a:r>
              <a:rPr lang="en-US" b="1" dirty="0" smtClean="0"/>
              <a:t>Kelvin</a:t>
            </a:r>
            <a:r>
              <a:rPr lang="en-US" dirty="0" smtClean="0"/>
              <a:t>, Qi Lin, Lionel, </a:t>
            </a:r>
            <a:r>
              <a:rPr lang="en-US" dirty="0" err="1" smtClean="0"/>
              <a:t>Khoan</a:t>
            </a:r>
            <a:r>
              <a:rPr lang="en-US" dirty="0" smtClean="0"/>
              <a:t>, </a:t>
            </a:r>
            <a:r>
              <a:rPr lang="en-US" dirty="0" err="1" smtClean="0"/>
              <a:t>Hijanah</a:t>
            </a:r>
            <a:r>
              <a:rPr lang="en-US" dirty="0" smtClean="0"/>
              <a:t>, </a:t>
            </a:r>
            <a:r>
              <a:rPr lang="en-US" dirty="0" err="1" smtClean="0"/>
              <a:t>Mengke</a:t>
            </a:r>
            <a:r>
              <a:rPr lang="en-US" dirty="0" smtClean="0"/>
              <a:t>, Ba </a:t>
            </a:r>
            <a:r>
              <a:rPr lang="en-US" dirty="0" err="1" smtClean="0"/>
              <a:t>Loc</a:t>
            </a:r>
            <a:r>
              <a:rPr lang="en-US" dirty="0" smtClean="0"/>
              <a:t>, </a:t>
            </a:r>
            <a:r>
              <a:rPr lang="en-US" dirty="0" err="1" smtClean="0"/>
              <a:t>Junru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2478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ACCOMODATION LOGISTICS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Rooms are requested to be in the same level</a:t>
            </a:r>
          </a:p>
          <a:p>
            <a:r>
              <a:rPr lang="en-US" dirty="0" smtClean="0"/>
              <a:t>Passports will be collected and stored in hotel safe (if you want)</a:t>
            </a:r>
          </a:p>
          <a:p>
            <a:r>
              <a:rPr lang="en-US" dirty="0" smtClean="0"/>
              <a:t>Team leaders will receive the keys to distribute to team members</a:t>
            </a:r>
          </a:p>
          <a:p>
            <a:r>
              <a:rPr lang="en-US" dirty="0" smtClean="0"/>
              <a:t>Team leaders are responsible for their team members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dirty="0"/>
              <a:t>M</a:t>
            </a:r>
            <a:r>
              <a:rPr lang="en-US" dirty="0" smtClean="0"/>
              <a:t>ake sure they wake up and report on time</a:t>
            </a:r>
          </a:p>
          <a:p>
            <a:r>
              <a:rPr lang="en-US" dirty="0" smtClean="0"/>
              <a:t>Don’t make a lot of noise in the rooms and corridors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CURFEW: 11pm!</a:t>
            </a:r>
          </a:p>
          <a:p>
            <a:pPr marL="0" indent="0">
              <a:buNone/>
            </a:pPr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0248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BEHAVIOUR MATTERS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Listen to instructions from the team leaders, tour guide and tour manager</a:t>
            </a:r>
          </a:p>
          <a:p>
            <a:r>
              <a:rPr lang="en-US" dirty="0" smtClean="0"/>
              <a:t>Be </a:t>
            </a:r>
            <a:r>
              <a:rPr lang="en-US" b="1" dirty="0" smtClean="0">
                <a:solidFill>
                  <a:srgbClr val="FF0000"/>
                </a:solidFill>
              </a:rPr>
              <a:t>punctual</a:t>
            </a:r>
            <a:r>
              <a:rPr lang="en-US" dirty="0" smtClean="0"/>
              <a:t> for all events: make sure to wake up on time and report back to the bus on time</a:t>
            </a:r>
          </a:p>
          <a:p>
            <a:r>
              <a:rPr lang="en-US" dirty="0" smtClean="0"/>
              <a:t>Be responsible and take care of your belongings and of each other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606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400" y="29718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ANY QUESTIONS?</a:t>
            </a:r>
            <a:endParaRPr lang="en-SG" sz="4800" dirty="0"/>
          </a:p>
        </p:txBody>
      </p:sp>
    </p:spTree>
    <p:extLst>
      <p:ext uri="{BB962C8B-B14F-4D97-AF65-F5344CB8AC3E}">
        <p14:creationId xmlns:p14="http://schemas.microsoft.com/office/powerpoint/2010/main" val="379558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2416</TotalTime>
  <Words>1334</Words>
  <Application>Microsoft Office PowerPoint</Application>
  <PresentationFormat>On-screen Show (4:3)</PresentationFormat>
  <Paragraphs>203</Paragraphs>
  <Slides>31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Clarity</vt:lpstr>
      <vt:lpstr>PRE-DEPARTURE BRIEFING – KYUSHU</vt:lpstr>
      <vt:lpstr>FLIGHT DETAILS:</vt:lpstr>
      <vt:lpstr>FLIGHT LOGISTICS:</vt:lpstr>
      <vt:lpstr>FLIGHT LOGISTICS:</vt:lpstr>
      <vt:lpstr>ACCOMODATION DETAILS</vt:lpstr>
      <vt:lpstr>ACCOMODATION DETAILS</vt:lpstr>
      <vt:lpstr>ACCOMODATION DETAILS</vt:lpstr>
      <vt:lpstr>WEATHER</vt:lpstr>
      <vt:lpstr>MEDICATION</vt:lpstr>
      <vt:lpstr>INSURANCE</vt:lpstr>
      <vt:lpstr>ELECTRONICS:</vt:lpstr>
      <vt:lpstr>EXTRA INFORMATION:</vt:lpstr>
      <vt:lpstr>EXTRA INFORMATION:</vt:lpstr>
      <vt:lpstr>INFORMATION FOR CALLS MADE</vt:lpstr>
      <vt:lpstr>INFORMATION FOR CALLS MADE</vt:lpstr>
      <vt:lpstr>CONTACT INFORMATION</vt:lpstr>
      <vt:lpstr>PRE-DEPARTURE BRIEFING – KYUSHU</vt:lpstr>
      <vt:lpstr>ITINERARY DAY 0: 15 JUNE</vt:lpstr>
      <vt:lpstr>ITINERARY DAY 1: 16 JUNE</vt:lpstr>
      <vt:lpstr>ITINERARY DAY 2: 17 JUNE</vt:lpstr>
      <vt:lpstr>KYUSHU UNIVERSITY VISIT</vt:lpstr>
      <vt:lpstr>ITINERARY DAY 3: 18 JUNE</vt:lpstr>
      <vt:lpstr>ITINERARY DAY 3: 18 JUNE</vt:lpstr>
      <vt:lpstr>ITINERARY DAY 4: 19 JUNE</vt:lpstr>
      <vt:lpstr>ITINERARY DAY 5: 20 JUNE</vt:lpstr>
      <vt:lpstr>ITINERARY DAY 5: 20 JUNE</vt:lpstr>
      <vt:lpstr>ITINERARY DAY 6: 21 JUNE</vt:lpstr>
      <vt:lpstr>GROUPING LIST:</vt:lpstr>
      <vt:lpstr>ACCOMODATION LOGISTICS</vt:lpstr>
      <vt:lpstr>BEHAVIOUR MATTERS</vt:lpstr>
      <vt:lpstr>ANY 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PRE-DEPARTURE BRIEFING – S. KOREA</dc:title>
  <dc:creator>Valerie</dc:creator>
  <cp:lastModifiedBy>Valerie</cp:lastModifiedBy>
  <cp:revision>258</cp:revision>
  <dcterms:created xsi:type="dcterms:W3CDTF">2006-08-16T00:00:00Z</dcterms:created>
  <dcterms:modified xsi:type="dcterms:W3CDTF">2014-06-03T08:22:55Z</dcterms:modified>
</cp:coreProperties>
</file>